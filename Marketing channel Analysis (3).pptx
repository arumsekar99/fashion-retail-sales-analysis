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Telegraf" charset="1" panose="00000500000000000000"/>
      <p:regular r:id="rId27"/>
    </p:embeddedFont>
    <p:embeddedFont>
      <p:font typeface="Be Vietnam" charset="1" panose="00000500000000000000"/>
      <p:regular r:id="rId28"/>
    </p:embeddedFont>
    <p:embeddedFont>
      <p:font typeface="Be Vietnam Ultra-Bold" charset="1" panose="00000900000000000000"/>
      <p:regular r:id="rId29"/>
    </p:embeddedFont>
    <p:embeddedFont>
      <p:font typeface="Be Vietnam Ultra-Bold Italics" charset="1" panose="00000900000000000000"/>
      <p:regular r:id="rId30"/>
    </p:embeddedFont>
    <p:embeddedFont>
      <p:font typeface="TT Hoves" charset="1" panose="02000003020000060003"/>
      <p:regular r:id="rId31"/>
    </p:embeddedFont>
    <p:embeddedFont>
      <p:font typeface="TT Hoves Bold" charset="1" panose="02000003020000060003"/>
      <p:regular r:id="rId32"/>
    </p:embeddedFont>
    <p:embeddedFont>
      <p:font typeface="Heading Now 71-78 Bold" charset="1" panose="00000000000000000000"/>
      <p:regular r:id="rId33"/>
    </p:embeddedFont>
    <p:embeddedFont>
      <p:font typeface="TT Norms" charset="1" panose="02000503030000020003"/>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slide3.xml" Type="http://schemas.openxmlformats.org/officeDocument/2006/relationships/slide"/><Relationship Id="rId11" Target="slide8.xml" Type="http://schemas.openxmlformats.org/officeDocument/2006/relationships/slide"/><Relationship Id="rId2" Target="slide9.xml" Type="http://schemas.openxmlformats.org/officeDocument/2006/relationships/slide"/><Relationship Id="rId3" Target="slide10.xml" Type="http://schemas.openxmlformats.org/officeDocument/2006/relationships/slide"/><Relationship Id="rId4" Target="slide12.xml" Type="http://schemas.openxmlformats.org/officeDocument/2006/relationships/slide"/><Relationship Id="rId5" Target="slide20.xml" Type="http://schemas.openxmlformats.org/officeDocument/2006/relationships/slide"/><Relationship Id="rId6" Target="../media/image2.jpe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 Id="rId9" Target="slide7.xml" Type="http://schemas.openxmlformats.org/officeDocument/2006/relationship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http://repository.unsoed.ac.id/11683/"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png" Type="http://schemas.openxmlformats.org/officeDocument/2006/relationships/image"/><Relationship Id="rId13" Target="../media/image14.pn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png" Type="http://schemas.openxmlformats.org/officeDocument/2006/relationships/image"/><Relationship Id="rId18" Target="../media/image19.png" Type="http://schemas.openxmlformats.org/officeDocument/2006/relationships/image"/><Relationship Id="rId19" Target="../media/image20.png" Type="http://schemas.openxmlformats.org/officeDocument/2006/relationships/image"/><Relationship Id="rId2" Target="../media/image3.png" Type="http://schemas.openxmlformats.org/officeDocument/2006/relationships/image"/><Relationship Id="rId20" Target="../media/image21.png" Type="http://schemas.openxmlformats.org/officeDocument/2006/relationships/image"/><Relationship Id="rId21" Target="../media/image22.png" Type="http://schemas.openxmlformats.org/officeDocument/2006/relationships/image"/><Relationship Id="rId22" Target="../media/image23.png" Type="http://schemas.openxmlformats.org/officeDocument/2006/relationships/image"/><Relationship Id="rId23" Target="../media/image24.svg" Type="http://schemas.openxmlformats.org/officeDocument/2006/relationships/image"/><Relationship Id="rId24" Target="../media/image25.png" Type="http://schemas.openxmlformats.org/officeDocument/2006/relationships/image"/><Relationship Id="rId25" Target="../media/image26.png" Type="http://schemas.openxmlformats.org/officeDocument/2006/relationships/image"/><Relationship Id="rId3" Target="../media/image4.svg" Type="http://schemas.openxmlformats.org/officeDocument/2006/relationships/image"/><Relationship Id="rId4" Target="slide2.xml" Type="http://schemas.openxmlformats.org/officeDocument/2006/relationships/slide"/><Relationship Id="rId5" Target="../media/image6.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 Id="rId9"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slide2.xml" Type="http://schemas.openxmlformats.org/officeDocument/2006/relationship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slide2.xml" Type="http://schemas.openxmlformats.org/officeDocument/2006/relationship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slide2.xml" Type="http://schemas.openxmlformats.org/officeDocument/2006/relationship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slide2.xml" Type="http://schemas.openxmlformats.org/officeDocument/2006/relationship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slide2.xml" Type="http://schemas.openxmlformats.org/officeDocument/2006/relationships/slide"/><Relationship Id="rId5" Target="https://drive.google.com/file/d/18lj496ehv9zy17LDtY85v14pcsrEotKe/view?usp=drive_link" TargetMode="External" Type="http://schemas.openxmlformats.org/officeDocument/2006/relationships/hyperlink"/><Relationship Id="rId6" Target="https://colab.research.google.com/drive/1FvUP-gW6lqLFzDBlTJJv3s4lU3-fM1ZM?usp=drive_link" TargetMode="External" Type="http://schemas.openxmlformats.org/officeDocument/2006/relationships/hyperlink"/><Relationship Id="rId7" Target="https://colab.research.google.com/drive/1FvUP-gW6lqLFzDBlTJJv3s4lU3-fM1ZM?usp=drive_link" TargetMode="External" Type="http://schemas.openxmlformats.org/officeDocument/2006/relationships/hyperlink"/><Relationship Id="rId8" Target="https://drive.google.com/file/d/1m5JQ5TFZevkADjNL8aAg04HPG6JqCIKA/view?usp=drive_link" TargetMode="External" Type="http://schemas.openxmlformats.org/officeDocument/2006/relationships/hyperlink"/><Relationship Id="rId9" Target="https://docs.google.com/spreadsheets/d/1LDfmgRNrh5WswnrL5aZrnuQYBCpOiQ6o/edit?usp=drive_link&amp;ouid=110947319289534655786&amp;rtpof=true&amp;sd=true" TargetMode="External" Type="http://schemas.openxmlformats.org/officeDocument/2006/relationships/hyperlink"/></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jpe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slide2.xml" Type="http://schemas.openxmlformats.org/officeDocument/2006/relationship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3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4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 Id="rId6" Target="../media/image4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slide2.xml" Type="http://schemas.openxmlformats.org/officeDocument/2006/relationships/slid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jpeg" Type="http://schemas.openxmlformats.org/officeDocument/2006/relationships/image"/><Relationship Id="rId3" Target="slide2.xml" Type="http://schemas.openxmlformats.org/officeDocument/2006/relationships/slid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7865401" cy="10287000"/>
            <a:chOff x="0" y="0"/>
            <a:chExt cx="3101253" cy="4056067"/>
          </a:xfrm>
        </p:grpSpPr>
        <p:sp>
          <p:nvSpPr>
            <p:cNvPr name="Freeform 3" id="3"/>
            <p:cNvSpPr/>
            <p:nvPr/>
          </p:nvSpPr>
          <p:spPr>
            <a:xfrm flipH="false" flipV="false" rot="0">
              <a:off x="0" y="0"/>
              <a:ext cx="3101253" cy="4056067"/>
            </a:xfrm>
            <a:custGeom>
              <a:avLst/>
              <a:gdLst/>
              <a:ahLst/>
              <a:cxnLst/>
              <a:rect r="r" b="b" t="t" l="l"/>
              <a:pathLst>
                <a:path h="4056067" w="3101253">
                  <a:moveTo>
                    <a:pt x="0" y="0"/>
                  </a:moveTo>
                  <a:lnTo>
                    <a:pt x="3101253" y="0"/>
                  </a:lnTo>
                  <a:lnTo>
                    <a:pt x="3101253" y="4056067"/>
                  </a:lnTo>
                  <a:lnTo>
                    <a:pt x="0" y="4056067"/>
                  </a:lnTo>
                  <a:close/>
                </a:path>
              </a:pathLst>
            </a:custGeom>
            <a:solidFill>
              <a:srgbClr val="F5334E"/>
            </a:solidFill>
          </p:spPr>
        </p:sp>
        <p:sp>
          <p:nvSpPr>
            <p:cNvPr name="TextBox 4" id="4"/>
            <p:cNvSpPr txBox="true"/>
            <p:nvPr/>
          </p:nvSpPr>
          <p:spPr>
            <a:xfrm>
              <a:off x="0" y="-47625"/>
              <a:ext cx="3101253" cy="4103692"/>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1145148" y="954556"/>
            <a:ext cx="5575104" cy="8377889"/>
          </a:xfrm>
          <a:custGeom>
            <a:avLst/>
            <a:gdLst/>
            <a:ahLst/>
            <a:cxnLst/>
            <a:rect r="r" b="b" t="t" l="l"/>
            <a:pathLst>
              <a:path h="8377889" w="5575104">
                <a:moveTo>
                  <a:pt x="0" y="0"/>
                </a:moveTo>
                <a:lnTo>
                  <a:pt x="5575104" y="0"/>
                </a:lnTo>
                <a:lnTo>
                  <a:pt x="5575104" y="8377888"/>
                </a:lnTo>
                <a:lnTo>
                  <a:pt x="0" y="8377888"/>
                </a:lnTo>
                <a:lnTo>
                  <a:pt x="0" y="0"/>
                </a:lnTo>
                <a:close/>
              </a:path>
            </a:pathLst>
          </a:custGeom>
          <a:blipFill>
            <a:blip r:embed="rId2"/>
            <a:stretch>
              <a:fillRect l="0" t="0" r="0" b="0"/>
            </a:stretch>
          </a:blipFill>
        </p:spPr>
      </p:sp>
      <p:sp>
        <p:nvSpPr>
          <p:cNvPr name="TextBox 6" id="6"/>
          <p:cNvSpPr txBox="true"/>
          <p:nvPr/>
        </p:nvSpPr>
        <p:spPr>
          <a:xfrm rot="0">
            <a:off x="8922556" y="4053205"/>
            <a:ext cx="7483546" cy="2218690"/>
          </a:xfrm>
          <a:prstGeom prst="rect">
            <a:avLst/>
          </a:prstGeom>
        </p:spPr>
        <p:txBody>
          <a:bodyPr anchor="t" rtlCol="false" tIns="0" lIns="0" bIns="0" rIns="0">
            <a:spAutoFit/>
          </a:bodyPr>
          <a:lstStyle/>
          <a:p>
            <a:pPr algn="l" marL="0" indent="0" lvl="0">
              <a:lnSpc>
                <a:spcPts val="5600"/>
              </a:lnSpc>
            </a:pPr>
            <a:r>
              <a:rPr lang="en-US" sz="5600" spc="-168">
                <a:solidFill>
                  <a:srgbClr val="022658"/>
                </a:solidFill>
                <a:latin typeface="Telegraf"/>
                <a:ea typeface="Telegraf"/>
                <a:cs typeface="Telegraf"/>
                <a:sym typeface="Telegraf"/>
              </a:rPr>
              <a:t>FASHION BOUTIQUE –  </a:t>
            </a:r>
            <a:r>
              <a:rPr lang="en-US" sz="5600" spc="-168" strike="noStrike">
                <a:solidFill>
                  <a:srgbClr val="F5334E"/>
                </a:solidFill>
                <a:latin typeface="Telegraf"/>
                <a:ea typeface="Telegraf"/>
                <a:cs typeface="Telegraf"/>
                <a:sym typeface="Telegraf"/>
              </a:rPr>
              <a:t>SALES, RETURNS &amp; CUSTOMER INSIGHTS</a:t>
            </a:r>
          </a:p>
        </p:txBody>
      </p:sp>
      <p:sp>
        <p:nvSpPr>
          <p:cNvPr name="TextBox 7" id="7"/>
          <p:cNvSpPr txBox="true"/>
          <p:nvPr/>
        </p:nvSpPr>
        <p:spPr>
          <a:xfrm rot="0">
            <a:off x="8922556" y="7263028"/>
            <a:ext cx="3344430" cy="504825"/>
          </a:xfrm>
          <a:prstGeom prst="rect">
            <a:avLst/>
          </a:prstGeom>
        </p:spPr>
        <p:txBody>
          <a:bodyPr anchor="t" rtlCol="false" tIns="0" lIns="0" bIns="0" rIns="0">
            <a:spAutoFit/>
          </a:bodyPr>
          <a:lstStyle/>
          <a:p>
            <a:pPr algn="l">
              <a:lnSpc>
                <a:spcPts val="4199"/>
              </a:lnSpc>
              <a:spcBef>
                <a:spcPct val="0"/>
              </a:spcBef>
            </a:pPr>
            <a:r>
              <a:rPr lang="en-US" sz="2999">
                <a:solidFill>
                  <a:srgbClr val="022658"/>
                </a:solidFill>
                <a:latin typeface="Be Vietnam"/>
                <a:ea typeface="Be Vietnam"/>
                <a:cs typeface="Be Vietnam"/>
                <a:sym typeface="Be Vietnam"/>
              </a:rPr>
              <a:t>16 August 2025</a:t>
            </a:r>
          </a:p>
        </p:txBody>
      </p:sp>
      <p:sp>
        <p:nvSpPr>
          <p:cNvPr name="TextBox 8" id="8"/>
          <p:cNvSpPr txBox="true"/>
          <p:nvPr/>
        </p:nvSpPr>
        <p:spPr>
          <a:xfrm rot="0">
            <a:off x="8922556" y="1283868"/>
            <a:ext cx="4833903" cy="417830"/>
          </a:xfrm>
          <a:prstGeom prst="rect">
            <a:avLst/>
          </a:prstGeom>
        </p:spPr>
        <p:txBody>
          <a:bodyPr anchor="t" rtlCol="false" tIns="0" lIns="0" bIns="0" rIns="0">
            <a:spAutoFit/>
          </a:bodyPr>
          <a:lstStyle/>
          <a:p>
            <a:pPr algn="l">
              <a:lnSpc>
                <a:spcPts val="3220"/>
              </a:lnSpc>
            </a:pPr>
            <a:r>
              <a:rPr lang="en-US" sz="2300" spc="-46">
                <a:solidFill>
                  <a:srgbClr val="022658"/>
                </a:solidFill>
                <a:latin typeface="Telegraf"/>
                <a:ea typeface="Telegraf"/>
                <a:cs typeface="Telegraf"/>
                <a:sym typeface="Telegraf"/>
              </a:rPr>
              <a:t>DIBIMBING.ID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095375"/>
            <a:ext cx="5880745" cy="1076325"/>
          </a:xfrm>
          <a:prstGeom prst="rect">
            <a:avLst/>
          </a:prstGeom>
        </p:spPr>
        <p:txBody>
          <a:bodyPr anchor="t" rtlCol="false" tIns="0" lIns="0" bIns="0" rIns="0">
            <a:spAutoFit/>
          </a:bodyPr>
          <a:lstStyle/>
          <a:p>
            <a:pPr algn="l" marL="0" indent="0" lvl="0">
              <a:lnSpc>
                <a:spcPts val="7500"/>
              </a:lnSpc>
            </a:pPr>
            <a:r>
              <a:rPr lang="en-US" sz="7500" spc="-225" strike="noStrike" u="none">
                <a:solidFill>
                  <a:srgbClr val="022658"/>
                </a:solidFill>
                <a:latin typeface="Telegraf"/>
                <a:ea typeface="Telegraf"/>
                <a:cs typeface="Telegraf"/>
                <a:sym typeface="Telegraf"/>
              </a:rPr>
              <a:t>AGENDA</a:t>
            </a:r>
          </a:p>
        </p:txBody>
      </p:sp>
      <p:sp>
        <p:nvSpPr>
          <p:cNvPr name="TextBox 3" id="3"/>
          <p:cNvSpPr txBox="true"/>
          <p:nvPr/>
        </p:nvSpPr>
        <p:spPr>
          <a:xfrm rot="0">
            <a:off x="1019175" y="6307227"/>
            <a:ext cx="5880745" cy="431800"/>
          </a:xfrm>
          <a:prstGeom prst="rect">
            <a:avLst/>
          </a:prstGeom>
        </p:spPr>
        <p:txBody>
          <a:bodyPr anchor="t" rtlCol="false" tIns="0" lIns="0" bIns="0" rIns="0">
            <a:spAutoFit/>
          </a:bodyPr>
          <a:lstStyle/>
          <a:p>
            <a:pPr algn="l">
              <a:lnSpc>
                <a:spcPts val="3500"/>
              </a:lnSpc>
            </a:pPr>
            <a:r>
              <a:rPr lang="en-US" sz="2500" u="sng">
                <a:solidFill>
                  <a:srgbClr val="022658"/>
                </a:solidFill>
                <a:latin typeface="Be Vietnam"/>
                <a:ea typeface="Be Vietnam"/>
                <a:cs typeface="Be Vietnam"/>
                <a:sym typeface="Be Vietnam"/>
                <a:hlinkClick r:id="rId2" action="ppaction://hlinksldjump"/>
              </a:rPr>
              <a:t>Objectives Questions</a:t>
            </a:r>
          </a:p>
        </p:txBody>
      </p:sp>
      <p:sp>
        <p:nvSpPr>
          <p:cNvPr name="TextBox 4" id="4"/>
          <p:cNvSpPr txBox="true"/>
          <p:nvPr/>
        </p:nvSpPr>
        <p:spPr>
          <a:xfrm rot="0">
            <a:off x="1028700" y="7006450"/>
            <a:ext cx="5880745" cy="431800"/>
          </a:xfrm>
          <a:prstGeom prst="rect">
            <a:avLst/>
          </a:prstGeom>
        </p:spPr>
        <p:txBody>
          <a:bodyPr anchor="t" rtlCol="false" tIns="0" lIns="0" bIns="0" rIns="0">
            <a:spAutoFit/>
          </a:bodyPr>
          <a:lstStyle/>
          <a:p>
            <a:pPr algn="l">
              <a:lnSpc>
                <a:spcPts val="3500"/>
              </a:lnSpc>
            </a:pPr>
            <a:r>
              <a:rPr lang="en-US" sz="2500" u="sng">
                <a:solidFill>
                  <a:srgbClr val="022658"/>
                </a:solidFill>
                <a:latin typeface="Be Vietnam"/>
                <a:ea typeface="Be Vietnam"/>
                <a:cs typeface="Be Vietnam"/>
                <a:sym typeface="Be Vietnam"/>
                <a:hlinkClick r:id="rId3" action="ppaction://hlinksldjump"/>
              </a:rPr>
              <a:t>Key metrics</a:t>
            </a:r>
          </a:p>
        </p:txBody>
      </p:sp>
      <p:sp>
        <p:nvSpPr>
          <p:cNvPr name="TextBox 5" id="5"/>
          <p:cNvSpPr txBox="true"/>
          <p:nvPr/>
        </p:nvSpPr>
        <p:spPr>
          <a:xfrm rot="0">
            <a:off x="1028700" y="7760423"/>
            <a:ext cx="5880745" cy="431800"/>
          </a:xfrm>
          <a:prstGeom prst="rect">
            <a:avLst/>
          </a:prstGeom>
        </p:spPr>
        <p:txBody>
          <a:bodyPr anchor="t" rtlCol="false" tIns="0" lIns="0" bIns="0" rIns="0">
            <a:spAutoFit/>
          </a:bodyPr>
          <a:lstStyle/>
          <a:p>
            <a:pPr algn="l">
              <a:lnSpc>
                <a:spcPts val="3500"/>
              </a:lnSpc>
            </a:pPr>
            <a:r>
              <a:rPr lang="en-US" sz="2500" u="sng">
                <a:solidFill>
                  <a:srgbClr val="022658"/>
                </a:solidFill>
                <a:latin typeface="Be Vietnam"/>
                <a:ea typeface="Be Vietnam"/>
                <a:cs typeface="Be Vietnam"/>
                <a:sym typeface="Be Vietnam"/>
                <a:hlinkClick r:id="rId4" action="ppaction://hlinksldjump"/>
              </a:rPr>
              <a:t>EDA &amp; Insights</a:t>
            </a:r>
          </a:p>
        </p:txBody>
      </p:sp>
      <p:sp>
        <p:nvSpPr>
          <p:cNvPr name="TextBox 6" id="6"/>
          <p:cNvSpPr txBox="true"/>
          <p:nvPr/>
        </p:nvSpPr>
        <p:spPr>
          <a:xfrm rot="0">
            <a:off x="1028700" y="8571546"/>
            <a:ext cx="5880745" cy="431800"/>
          </a:xfrm>
          <a:prstGeom prst="rect">
            <a:avLst/>
          </a:prstGeom>
        </p:spPr>
        <p:txBody>
          <a:bodyPr anchor="t" rtlCol="false" tIns="0" lIns="0" bIns="0" rIns="0">
            <a:spAutoFit/>
          </a:bodyPr>
          <a:lstStyle/>
          <a:p>
            <a:pPr algn="l">
              <a:lnSpc>
                <a:spcPts val="3500"/>
              </a:lnSpc>
            </a:pPr>
            <a:r>
              <a:rPr lang="en-US" sz="2500" u="sng">
                <a:solidFill>
                  <a:srgbClr val="022658"/>
                </a:solidFill>
                <a:latin typeface="Be Vietnam"/>
                <a:ea typeface="Be Vietnam"/>
                <a:cs typeface="Be Vietnam"/>
                <a:sym typeface="Be Vietnam"/>
                <a:hlinkClick r:id="rId5" action="ppaction://hlinksldjump"/>
              </a:rPr>
              <a:t>Recommendations</a:t>
            </a:r>
          </a:p>
        </p:txBody>
      </p:sp>
      <p:sp>
        <p:nvSpPr>
          <p:cNvPr name="Freeform 7" id="7"/>
          <p:cNvSpPr/>
          <p:nvPr/>
        </p:nvSpPr>
        <p:spPr>
          <a:xfrm flipH="false" flipV="false" rot="0">
            <a:off x="8265220" y="0"/>
            <a:ext cx="10022780" cy="10287000"/>
          </a:xfrm>
          <a:custGeom>
            <a:avLst/>
            <a:gdLst/>
            <a:ahLst/>
            <a:cxnLst/>
            <a:rect r="r" b="b" t="t" l="l"/>
            <a:pathLst>
              <a:path h="10287000" w="10022780">
                <a:moveTo>
                  <a:pt x="0" y="0"/>
                </a:moveTo>
                <a:lnTo>
                  <a:pt x="10022780" y="0"/>
                </a:lnTo>
                <a:lnTo>
                  <a:pt x="10022780" y="10287000"/>
                </a:lnTo>
                <a:lnTo>
                  <a:pt x="0" y="10287000"/>
                </a:lnTo>
                <a:lnTo>
                  <a:pt x="0" y="0"/>
                </a:lnTo>
                <a:close/>
              </a:path>
            </a:pathLst>
          </a:custGeom>
          <a:blipFill>
            <a:blip r:embed="rId6"/>
            <a:stretch>
              <a:fillRect l="-30310" t="0" r="-23739" b="0"/>
            </a:stretch>
          </a:blipFill>
        </p:spPr>
      </p:sp>
      <p:sp>
        <p:nvSpPr>
          <p:cNvPr name="Freeform 8" id="8"/>
          <p:cNvSpPr/>
          <p:nvPr/>
        </p:nvSpPr>
        <p:spPr>
          <a:xfrm flipH="false" flipV="false" rot="0">
            <a:off x="16719766" y="1028700"/>
            <a:ext cx="539534" cy="539534"/>
          </a:xfrm>
          <a:custGeom>
            <a:avLst/>
            <a:gdLst/>
            <a:ahLst/>
            <a:cxnLst/>
            <a:rect r="r" b="b" t="t" l="l"/>
            <a:pathLst>
              <a:path h="539534" w="539534">
                <a:moveTo>
                  <a:pt x="0" y="0"/>
                </a:moveTo>
                <a:lnTo>
                  <a:pt x="539534" y="0"/>
                </a:lnTo>
                <a:lnTo>
                  <a:pt x="539534" y="539534"/>
                </a:lnTo>
                <a:lnTo>
                  <a:pt x="0" y="53953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1028700" y="4947604"/>
            <a:ext cx="5880745" cy="431800"/>
          </a:xfrm>
          <a:prstGeom prst="rect">
            <a:avLst/>
          </a:prstGeom>
        </p:spPr>
        <p:txBody>
          <a:bodyPr anchor="t" rtlCol="false" tIns="0" lIns="0" bIns="0" rIns="0">
            <a:spAutoFit/>
          </a:bodyPr>
          <a:lstStyle/>
          <a:p>
            <a:pPr algn="l">
              <a:lnSpc>
                <a:spcPts val="3500"/>
              </a:lnSpc>
            </a:pPr>
            <a:r>
              <a:rPr lang="en-US" sz="2500" u="sng">
                <a:solidFill>
                  <a:srgbClr val="022658"/>
                </a:solidFill>
                <a:latin typeface="Be Vietnam"/>
                <a:ea typeface="Be Vietnam"/>
                <a:cs typeface="Be Vietnam"/>
                <a:sym typeface="Be Vietnam"/>
                <a:hlinkClick r:id="rId9" action="ppaction://hlinksldjump"/>
              </a:rPr>
              <a:t>Overview Project</a:t>
            </a:r>
          </a:p>
        </p:txBody>
      </p:sp>
      <p:sp>
        <p:nvSpPr>
          <p:cNvPr name="TextBox 10" id="10"/>
          <p:cNvSpPr txBox="true"/>
          <p:nvPr/>
        </p:nvSpPr>
        <p:spPr>
          <a:xfrm rot="0">
            <a:off x="1028700" y="4222751"/>
            <a:ext cx="5880745" cy="431800"/>
          </a:xfrm>
          <a:prstGeom prst="rect">
            <a:avLst/>
          </a:prstGeom>
        </p:spPr>
        <p:txBody>
          <a:bodyPr anchor="t" rtlCol="false" tIns="0" lIns="0" bIns="0" rIns="0">
            <a:spAutoFit/>
          </a:bodyPr>
          <a:lstStyle/>
          <a:p>
            <a:pPr algn="l">
              <a:lnSpc>
                <a:spcPts val="3500"/>
              </a:lnSpc>
            </a:pPr>
            <a:r>
              <a:rPr lang="en-US" sz="2500" u="sng">
                <a:solidFill>
                  <a:srgbClr val="022658"/>
                </a:solidFill>
                <a:latin typeface="Be Vietnam"/>
                <a:ea typeface="Be Vietnam"/>
                <a:cs typeface="Be Vietnam"/>
                <a:sym typeface="Be Vietnam"/>
                <a:hlinkClick r:id="rId10" action="ppaction://hlinksldjump"/>
              </a:rPr>
              <a:t>Self Overview</a:t>
            </a:r>
          </a:p>
        </p:txBody>
      </p:sp>
      <p:sp>
        <p:nvSpPr>
          <p:cNvPr name="TextBox 11" id="11"/>
          <p:cNvSpPr txBox="true"/>
          <p:nvPr/>
        </p:nvSpPr>
        <p:spPr>
          <a:xfrm rot="0">
            <a:off x="1028700" y="5588954"/>
            <a:ext cx="5880745" cy="431800"/>
          </a:xfrm>
          <a:prstGeom prst="rect">
            <a:avLst/>
          </a:prstGeom>
        </p:spPr>
        <p:txBody>
          <a:bodyPr anchor="t" rtlCol="false" tIns="0" lIns="0" bIns="0" rIns="0">
            <a:spAutoFit/>
          </a:bodyPr>
          <a:lstStyle/>
          <a:p>
            <a:pPr algn="l">
              <a:lnSpc>
                <a:spcPts val="3500"/>
              </a:lnSpc>
            </a:pPr>
            <a:r>
              <a:rPr lang="en-US" sz="2500" u="sng">
                <a:solidFill>
                  <a:srgbClr val="022658"/>
                </a:solidFill>
                <a:latin typeface="Be Vietnam"/>
                <a:ea typeface="Be Vietnam"/>
                <a:cs typeface="Be Vietnam"/>
                <a:sym typeface="Be Vietnam"/>
                <a:hlinkClick r:id="rId11" action="ppaction://hlinksldjump"/>
              </a:rPr>
              <a:t>Data preprocessing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4034910"/>
          </a:xfrm>
          <a:custGeom>
            <a:avLst/>
            <a:gdLst/>
            <a:ahLst/>
            <a:cxnLst/>
            <a:rect r="r" b="b" t="t" l="l"/>
            <a:pathLst>
              <a:path h="4034910" w="18288000">
                <a:moveTo>
                  <a:pt x="0" y="0"/>
                </a:moveTo>
                <a:lnTo>
                  <a:pt x="18288000" y="0"/>
                </a:lnTo>
                <a:lnTo>
                  <a:pt x="18288000" y="4034910"/>
                </a:lnTo>
                <a:lnTo>
                  <a:pt x="0" y="4034910"/>
                </a:lnTo>
                <a:lnTo>
                  <a:pt x="0" y="0"/>
                </a:lnTo>
                <a:close/>
              </a:path>
            </a:pathLst>
          </a:custGeom>
          <a:blipFill>
            <a:blip r:embed="rId2"/>
            <a:stretch>
              <a:fillRect l="0" t="-100987" r="0" b="-100987"/>
            </a:stretch>
          </a:blipFill>
        </p:spPr>
      </p:sp>
      <p:grpSp>
        <p:nvGrpSpPr>
          <p:cNvPr name="Group 3" id="3"/>
          <p:cNvGrpSpPr/>
          <p:nvPr/>
        </p:nvGrpSpPr>
        <p:grpSpPr>
          <a:xfrm rot="0">
            <a:off x="9525" y="4034910"/>
            <a:ext cx="9144000" cy="6252090"/>
            <a:chOff x="0" y="0"/>
            <a:chExt cx="2408296" cy="1646641"/>
          </a:xfrm>
        </p:grpSpPr>
        <p:sp>
          <p:nvSpPr>
            <p:cNvPr name="Freeform 4" id="4"/>
            <p:cNvSpPr/>
            <p:nvPr/>
          </p:nvSpPr>
          <p:spPr>
            <a:xfrm flipH="false" flipV="false" rot="0">
              <a:off x="0" y="0"/>
              <a:ext cx="2408296" cy="1646641"/>
            </a:xfrm>
            <a:custGeom>
              <a:avLst/>
              <a:gdLst/>
              <a:ahLst/>
              <a:cxnLst/>
              <a:rect r="r" b="b" t="t" l="l"/>
              <a:pathLst>
                <a:path h="1646641" w="2408296">
                  <a:moveTo>
                    <a:pt x="0" y="0"/>
                  </a:moveTo>
                  <a:lnTo>
                    <a:pt x="2408296" y="0"/>
                  </a:lnTo>
                  <a:lnTo>
                    <a:pt x="2408296" y="1646641"/>
                  </a:lnTo>
                  <a:lnTo>
                    <a:pt x="0" y="1646641"/>
                  </a:lnTo>
                  <a:close/>
                </a:path>
              </a:pathLst>
            </a:custGeom>
            <a:solidFill>
              <a:srgbClr val="F5334E"/>
            </a:solidFill>
          </p:spPr>
        </p:sp>
        <p:sp>
          <p:nvSpPr>
            <p:cNvPr name="TextBox 5" id="5"/>
            <p:cNvSpPr txBox="true"/>
            <p:nvPr/>
          </p:nvSpPr>
          <p:spPr>
            <a:xfrm>
              <a:off x="0" y="-57150"/>
              <a:ext cx="2408296" cy="1703791"/>
            </a:xfrm>
            <a:prstGeom prst="rect">
              <a:avLst/>
            </a:prstGeom>
          </p:spPr>
          <p:txBody>
            <a:bodyPr anchor="ctr" rtlCol="false" tIns="50800" lIns="50800" bIns="50800" rIns="50800"/>
            <a:lstStyle/>
            <a:p>
              <a:pPr algn="ctr">
                <a:lnSpc>
                  <a:spcPts val="3500"/>
                </a:lnSpc>
              </a:pPr>
            </a:p>
          </p:txBody>
        </p:sp>
      </p:grpSp>
      <p:sp>
        <p:nvSpPr>
          <p:cNvPr name="TextBox 6" id="6"/>
          <p:cNvSpPr txBox="true"/>
          <p:nvPr/>
        </p:nvSpPr>
        <p:spPr>
          <a:xfrm rot="0">
            <a:off x="1511953" y="4331373"/>
            <a:ext cx="6139144" cy="664210"/>
          </a:xfrm>
          <a:prstGeom prst="rect">
            <a:avLst/>
          </a:prstGeom>
        </p:spPr>
        <p:txBody>
          <a:bodyPr anchor="t" rtlCol="false" tIns="0" lIns="0" bIns="0" rIns="0">
            <a:spAutoFit/>
          </a:bodyPr>
          <a:lstStyle/>
          <a:p>
            <a:pPr algn="ctr" marL="0" indent="0" lvl="0">
              <a:lnSpc>
                <a:spcPts val="4729"/>
              </a:lnSpc>
              <a:spcBef>
                <a:spcPct val="0"/>
              </a:spcBef>
            </a:pPr>
            <a:r>
              <a:rPr lang="en-US" sz="4299" spc="-128">
                <a:solidFill>
                  <a:srgbClr val="FFFFFF"/>
                </a:solidFill>
                <a:latin typeface="Telegraf"/>
                <a:ea typeface="Telegraf"/>
                <a:cs typeface="Telegraf"/>
                <a:sym typeface="Telegraf"/>
              </a:rPr>
              <a:t>ARUM SEKAR MAWARNI</a:t>
            </a:r>
          </a:p>
        </p:txBody>
      </p:sp>
      <p:sp>
        <p:nvSpPr>
          <p:cNvPr name="TextBox 7" id="7"/>
          <p:cNvSpPr txBox="true"/>
          <p:nvPr/>
        </p:nvSpPr>
        <p:spPr>
          <a:xfrm rot="0">
            <a:off x="398691" y="5086350"/>
            <a:ext cx="8365668" cy="3060700"/>
          </a:xfrm>
          <a:prstGeom prst="rect">
            <a:avLst/>
          </a:prstGeom>
        </p:spPr>
        <p:txBody>
          <a:bodyPr anchor="t" rtlCol="false" tIns="0" lIns="0" bIns="0" rIns="0">
            <a:spAutoFit/>
          </a:bodyPr>
          <a:lstStyle/>
          <a:p>
            <a:pPr algn="just">
              <a:lnSpc>
                <a:spcPts val="3500"/>
              </a:lnSpc>
              <a:spcBef>
                <a:spcPct val="0"/>
              </a:spcBef>
            </a:pPr>
            <a:r>
              <a:rPr lang="en-US" sz="2500">
                <a:solidFill>
                  <a:srgbClr val="FFFFFF"/>
                </a:solidFill>
                <a:latin typeface="Be Vietnam"/>
                <a:ea typeface="Be Vietnam"/>
                <a:cs typeface="Be Vietnam"/>
                <a:sym typeface="Be Vietnam"/>
              </a:rPr>
              <a:t>Ha</a:t>
            </a:r>
            <a:r>
              <a:rPr lang="en-US" sz="2500" strike="noStrike">
                <a:solidFill>
                  <a:srgbClr val="FFFFFF"/>
                </a:solidFill>
                <a:latin typeface="Be Vietnam"/>
                <a:ea typeface="Be Vietnam"/>
                <a:cs typeface="Be Vietnam"/>
                <a:sym typeface="Be Vietnam"/>
              </a:rPr>
              <a:t>lo, saya Arum. Saya lulusan Sarjana Matematika yang kini bekerja di industri aplikasi transportasi (Grab) sebagai analis operasional. Saat ini saya juga mengikuti bootcamp Data Science 6 bulan untuk memperdalam kemampuan analisis dan machine learning. Portofolio ini berisi rangkuman proyek dan pembelajaran saya di dunia data.</a:t>
            </a:r>
          </a:p>
        </p:txBody>
      </p:sp>
      <p:sp>
        <p:nvSpPr>
          <p:cNvPr name="TextBox 8" id="8"/>
          <p:cNvSpPr txBox="true"/>
          <p:nvPr/>
        </p:nvSpPr>
        <p:spPr>
          <a:xfrm rot="0">
            <a:off x="10030527" y="4475586"/>
            <a:ext cx="5676597" cy="4191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EMAIL</a:t>
            </a:r>
            <a:r>
              <a:rPr lang="en-US" b="true" sz="2800" spc="126">
                <a:solidFill>
                  <a:srgbClr val="F5334E"/>
                </a:solidFill>
                <a:latin typeface="Be Vietnam Ultra-Bold"/>
                <a:ea typeface="Be Vietnam Ultra-Bold"/>
                <a:cs typeface="Be Vietnam Ultra-Bold"/>
                <a:sym typeface="Be Vietnam Ultra-Bold"/>
              </a:rPr>
              <a:t> </a:t>
            </a:r>
          </a:p>
        </p:txBody>
      </p:sp>
      <p:sp>
        <p:nvSpPr>
          <p:cNvPr name="TextBox 9" id="9"/>
          <p:cNvSpPr txBox="true"/>
          <p:nvPr/>
        </p:nvSpPr>
        <p:spPr>
          <a:xfrm rot="0">
            <a:off x="10030527" y="4975981"/>
            <a:ext cx="5676597" cy="431800"/>
          </a:xfrm>
          <a:prstGeom prst="rect">
            <a:avLst/>
          </a:prstGeom>
        </p:spPr>
        <p:txBody>
          <a:bodyPr anchor="t" rtlCol="false" tIns="0" lIns="0" bIns="0" rIns="0">
            <a:spAutoFit/>
          </a:bodyPr>
          <a:lstStyle/>
          <a:p>
            <a:pPr algn="l" marL="0" indent="0" lvl="1">
              <a:lnSpc>
                <a:spcPts val="3500"/>
              </a:lnSpc>
              <a:spcBef>
                <a:spcPct val="0"/>
              </a:spcBef>
            </a:pPr>
            <a:r>
              <a:rPr lang="en-US" sz="2500">
                <a:solidFill>
                  <a:srgbClr val="022658"/>
                </a:solidFill>
                <a:latin typeface="Be Vietnam"/>
                <a:ea typeface="Be Vietnam"/>
                <a:cs typeface="Be Vietnam"/>
                <a:sym typeface="Be Vietnam"/>
              </a:rPr>
              <a:t>mawarniarumsekar99@gmail.com</a:t>
            </a:r>
          </a:p>
        </p:txBody>
      </p:sp>
      <p:sp>
        <p:nvSpPr>
          <p:cNvPr name="TextBox 10" id="10"/>
          <p:cNvSpPr txBox="true"/>
          <p:nvPr/>
        </p:nvSpPr>
        <p:spPr>
          <a:xfrm rot="0">
            <a:off x="10030527" y="5845930"/>
            <a:ext cx="5676597" cy="4191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LINKEDIN</a:t>
            </a:r>
          </a:p>
        </p:txBody>
      </p:sp>
      <p:sp>
        <p:nvSpPr>
          <p:cNvPr name="TextBox 11" id="11"/>
          <p:cNvSpPr txBox="true"/>
          <p:nvPr/>
        </p:nvSpPr>
        <p:spPr>
          <a:xfrm rot="0">
            <a:off x="10030527" y="8792203"/>
            <a:ext cx="5676597" cy="4191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PHONE</a:t>
            </a:r>
          </a:p>
        </p:txBody>
      </p:sp>
      <p:sp>
        <p:nvSpPr>
          <p:cNvPr name="TextBox 12" id="12"/>
          <p:cNvSpPr txBox="true"/>
          <p:nvPr/>
        </p:nvSpPr>
        <p:spPr>
          <a:xfrm rot="0">
            <a:off x="10030527" y="9292598"/>
            <a:ext cx="5676597" cy="431800"/>
          </a:xfrm>
          <a:prstGeom prst="rect">
            <a:avLst/>
          </a:prstGeom>
        </p:spPr>
        <p:txBody>
          <a:bodyPr anchor="t" rtlCol="false" tIns="0" lIns="0" bIns="0" rIns="0">
            <a:spAutoFit/>
          </a:bodyPr>
          <a:lstStyle/>
          <a:p>
            <a:pPr algn="l" marL="0" indent="0" lvl="1">
              <a:lnSpc>
                <a:spcPts val="3500"/>
              </a:lnSpc>
              <a:spcBef>
                <a:spcPct val="0"/>
              </a:spcBef>
            </a:pPr>
            <a:r>
              <a:rPr lang="en-US" sz="2500">
                <a:solidFill>
                  <a:srgbClr val="022658"/>
                </a:solidFill>
                <a:latin typeface="Be Vietnam"/>
                <a:ea typeface="Be Vietnam"/>
                <a:cs typeface="Be Vietnam"/>
                <a:sym typeface="Be Vietnam"/>
              </a:rPr>
              <a:t>085727177335</a:t>
            </a:r>
          </a:p>
        </p:txBody>
      </p:sp>
      <p:sp>
        <p:nvSpPr>
          <p:cNvPr name="TextBox 13" id="13"/>
          <p:cNvSpPr txBox="true"/>
          <p:nvPr/>
        </p:nvSpPr>
        <p:spPr>
          <a:xfrm rot="0">
            <a:off x="10030527" y="6350755"/>
            <a:ext cx="7756565" cy="431800"/>
          </a:xfrm>
          <a:prstGeom prst="rect">
            <a:avLst/>
          </a:prstGeom>
        </p:spPr>
        <p:txBody>
          <a:bodyPr anchor="t" rtlCol="false" tIns="0" lIns="0" bIns="0" rIns="0">
            <a:spAutoFit/>
          </a:bodyPr>
          <a:lstStyle/>
          <a:p>
            <a:pPr algn="l" marL="0" indent="0" lvl="1">
              <a:lnSpc>
                <a:spcPts val="3500"/>
              </a:lnSpc>
              <a:spcBef>
                <a:spcPct val="0"/>
              </a:spcBef>
            </a:pPr>
            <a:r>
              <a:rPr lang="en-US" sz="2500" strike="noStrike" u="none">
                <a:solidFill>
                  <a:srgbClr val="022658"/>
                </a:solidFill>
                <a:latin typeface="Be Vietnam"/>
                <a:ea typeface="Be Vietnam"/>
                <a:cs typeface="Be Vietnam"/>
                <a:sym typeface="Be Vietnam"/>
              </a:rPr>
              <a:t>https://www.linkedin.com/in/arumsekarmawarni/</a:t>
            </a:r>
          </a:p>
        </p:txBody>
      </p:sp>
      <p:sp>
        <p:nvSpPr>
          <p:cNvPr name="TextBox 14" id="14"/>
          <p:cNvSpPr txBox="true"/>
          <p:nvPr/>
        </p:nvSpPr>
        <p:spPr>
          <a:xfrm rot="0">
            <a:off x="10030527" y="7328591"/>
            <a:ext cx="5676597" cy="4191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GITHUB</a:t>
            </a:r>
          </a:p>
        </p:txBody>
      </p:sp>
      <p:sp>
        <p:nvSpPr>
          <p:cNvPr name="TextBox 15" id="15"/>
          <p:cNvSpPr txBox="true"/>
          <p:nvPr/>
        </p:nvSpPr>
        <p:spPr>
          <a:xfrm rot="0">
            <a:off x="10030527" y="7833416"/>
            <a:ext cx="5117068" cy="431800"/>
          </a:xfrm>
          <a:prstGeom prst="rect">
            <a:avLst/>
          </a:prstGeom>
        </p:spPr>
        <p:txBody>
          <a:bodyPr anchor="t" rtlCol="false" tIns="0" lIns="0" bIns="0" rIns="0">
            <a:spAutoFit/>
          </a:bodyPr>
          <a:lstStyle/>
          <a:p>
            <a:pPr algn="l" marL="0" indent="0" lvl="1">
              <a:lnSpc>
                <a:spcPts val="3500"/>
              </a:lnSpc>
              <a:spcBef>
                <a:spcPct val="0"/>
              </a:spcBef>
            </a:pPr>
            <a:r>
              <a:rPr lang="en-US" sz="2500">
                <a:solidFill>
                  <a:srgbClr val="022658"/>
                </a:solidFill>
                <a:latin typeface="Be Vietnam"/>
                <a:ea typeface="Be Vietnam"/>
                <a:cs typeface="Be Vietnam"/>
                <a:sym typeface="Be Vietnam"/>
              </a:rPr>
              <a:t>https://github.com/arumsekar99</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7183941" y="1028700"/>
          <a:ext cx="10075359" cy="8553634"/>
        </p:xfrm>
        <a:graphic>
          <a:graphicData uri="http://schemas.openxmlformats.org/drawingml/2006/table">
            <a:tbl>
              <a:tblPr/>
              <a:tblGrid>
                <a:gridCol w="9846039"/>
              </a:tblGrid>
              <a:tr h="1516163">
                <a:tc>
                  <a:txBody>
                    <a:bodyPr anchor="t" rtlCol="false"/>
                    <a:lstStyle/>
                    <a:p>
                      <a:pPr algn="ctr">
                        <a:lnSpc>
                          <a:spcPts val="2800"/>
                        </a:lnSpc>
                        <a:defRPr/>
                      </a:pPr>
                      <a:r>
                        <a:rPr lang="en-US" sz="2000">
                          <a:solidFill>
                            <a:srgbClr val="FFFFFF"/>
                          </a:solidFill>
                          <a:latin typeface="Be Vietnam"/>
                          <a:ea typeface="Be Vietnam"/>
                          <a:cs typeface="Be Vietnam"/>
                          <a:sym typeface="Be Vietnam"/>
                        </a:rPr>
                        <a:t>Universitas Jenderal Soedirman (2017-2021)</a:t>
                      </a:r>
                      <a:endParaRPr lang="en-US" sz="1100"/>
                    </a:p>
                    <a:p>
                      <a:pPr algn="ctr">
                        <a:lnSpc>
                          <a:spcPts val="2800"/>
                        </a:lnSpc>
                      </a:pPr>
                      <a:r>
                        <a:rPr lang="en-US" sz="2000">
                          <a:solidFill>
                            <a:srgbClr val="FFFFFF"/>
                          </a:solidFill>
                          <a:latin typeface="Be Vietnam"/>
                          <a:ea typeface="Be Vietnam"/>
                          <a:cs typeface="Be Vietnam"/>
                          <a:sym typeface="Be Vietnam"/>
                        </a:rPr>
                        <a:t>Sarjana Matematika</a:t>
                      </a:r>
                    </a:p>
                    <a:p>
                      <a:pPr algn="ctr">
                        <a:lnSpc>
                          <a:spcPts val="2800"/>
                        </a:lnSpc>
                      </a:pPr>
                    </a:p>
                  </a:txBody>
                  <a:tcPr marL="190500" marR="190500" marT="190500" marB="190500" anchor="ctr">
                    <a:lnL cmpd="sng" algn="ctr" cap="flat" w="9525">
                      <a:solidFill>
                        <a:srgbClr val="F5334E"/>
                      </a:solidFill>
                      <a:prstDash val="solid"/>
                      <a:round/>
                      <a:headEnd type="none" w="med" len="med"/>
                      <a:tailEnd type="none" w="med" len="med"/>
                    </a:lnL>
                    <a:lnR cmpd="sng" algn="ctr" cap="flat" w="9525">
                      <a:solidFill>
                        <a:srgbClr val="F5334E"/>
                      </a:solidFill>
                      <a:prstDash val="solid"/>
                      <a:round/>
                      <a:headEnd type="none" w="med" len="med"/>
                      <a:tailEnd type="none" w="med" len="med"/>
                    </a:lnR>
                    <a:lnT cmpd="sng" algn="ctr" cap="flat" w="9525">
                      <a:solidFill>
                        <a:srgbClr val="F5334E"/>
                      </a:solidFill>
                      <a:prstDash val="solid"/>
                      <a:round/>
                      <a:headEnd type="none" w="med" len="med"/>
                      <a:tailEnd type="none" w="med" len="med"/>
                    </a:lnT>
                    <a:lnB cmpd="sng" algn="ctr" cap="flat" w="9525">
                      <a:solidFill>
                        <a:srgbClr val="F5334E"/>
                      </a:solidFill>
                      <a:prstDash val="solid"/>
                      <a:round/>
                      <a:headEnd type="none" w="med" len="med"/>
                      <a:tailEnd type="none" w="med" len="med"/>
                    </a:lnB>
                    <a:solidFill>
                      <a:srgbClr val="F5334E"/>
                    </a:solidFill>
                  </a:tcPr>
                </a:tc>
              </a:tr>
              <a:tr h="1516163">
                <a:tc>
                  <a:txBody>
                    <a:bodyPr anchor="t" rtlCol="false"/>
                    <a:lstStyle/>
                    <a:p>
                      <a:pPr algn="just">
                        <a:lnSpc>
                          <a:spcPts val="2800"/>
                        </a:lnSpc>
                        <a:defRPr/>
                      </a:pPr>
                      <a:r>
                        <a:rPr lang="en-US" sz="2000">
                          <a:solidFill>
                            <a:srgbClr val="022658"/>
                          </a:solidFill>
                          <a:latin typeface="Be Vietnam"/>
                          <a:ea typeface="Be Vietnam"/>
                          <a:cs typeface="Be Vietnam"/>
                          <a:sym typeface="Be Vietnam"/>
                        </a:rPr>
                        <a:t>Fokus pada matematika, statistika, dan pemodelan. Menyelesaikan jurnal berjudul “</a:t>
                      </a:r>
                      <a:r>
                        <a:rPr lang="en-US" b="true" sz="2000" i="true" u="sng">
                          <a:solidFill>
                            <a:srgbClr val="022658"/>
                          </a:solidFill>
                          <a:latin typeface="Be Vietnam Ultra-Bold Italics"/>
                          <a:ea typeface="Be Vietnam Ultra-Bold Italics"/>
                          <a:cs typeface="Be Vietnam Ultra-Bold Italics"/>
                          <a:sym typeface="Be Vietnam Ultra-Bold Italics"/>
                          <a:hlinkClick r:id="rId2" tooltip="http://repository.unsoed.ac.id/11683/"/>
                        </a:rPr>
                        <a:t>Pemodelan Dinamika Populasi untuk Tiga Kelas Populasi Dengan Menggunakan Barisan Bilangan Fibonacci.</a:t>
                      </a:r>
                      <a:r>
                        <a:rPr lang="en-US" sz="2000">
                          <a:solidFill>
                            <a:srgbClr val="022658"/>
                          </a:solidFill>
                          <a:latin typeface="Be Vietnam"/>
                          <a:ea typeface="Be Vietnam"/>
                          <a:cs typeface="Be Vietnam"/>
                          <a:sym typeface="Be Vietnam"/>
                        </a:rPr>
                        <a:t> “</a:t>
                      </a:r>
                      <a:endParaRPr lang="en-US" sz="1100"/>
                    </a:p>
                  </a:txBody>
                  <a:tcPr marL="190500" marR="190500" marT="190500" marB="190500" anchor="ctr">
                    <a:lnL cmpd="sng" algn="ctr" cap="flat" w="9525">
                      <a:solidFill>
                        <a:srgbClr val="F5334E"/>
                      </a:solidFill>
                      <a:prstDash val="solid"/>
                      <a:round/>
                      <a:headEnd type="none" w="med" len="med"/>
                      <a:tailEnd type="none" w="med" len="med"/>
                    </a:lnL>
                    <a:lnR cmpd="sng" algn="ctr" cap="flat" w="9525">
                      <a:solidFill>
                        <a:srgbClr val="F5334E"/>
                      </a:solidFill>
                      <a:prstDash val="solid"/>
                      <a:round/>
                      <a:headEnd type="none" w="med" len="med"/>
                      <a:tailEnd type="none" w="med" len="med"/>
                    </a:lnR>
                    <a:lnT cmpd="sng" algn="ctr" cap="flat" w="9525">
                      <a:solidFill>
                        <a:srgbClr val="F5334E"/>
                      </a:solidFill>
                      <a:prstDash val="solid"/>
                      <a:round/>
                      <a:headEnd type="none" w="med" len="med"/>
                      <a:tailEnd type="none" w="med" len="med"/>
                    </a:lnT>
                    <a:lnB cmpd="sng" algn="ctr" cap="flat" w="9525">
                      <a:solidFill>
                        <a:srgbClr val="F5334E"/>
                      </a:solidFill>
                      <a:prstDash val="solid"/>
                      <a:round/>
                      <a:headEnd type="none" w="med" len="med"/>
                      <a:tailEnd type="none" w="med" len="med"/>
                    </a:lnB>
                  </a:tcPr>
                </a:tc>
              </a:tr>
              <a:tr h="1243445">
                <a:tc>
                  <a:txBody>
                    <a:bodyPr anchor="t" rtlCol="false"/>
                    <a:lstStyle/>
                    <a:p>
                      <a:pPr algn="ctr">
                        <a:lnSpc>
                          <a:spcPts val="2800"/>
                        </a:lnSpc>
                        <a:defRPr/>
                      </a:pPr>
                      <a:r>
                        <a:rPr lang="en-US" sz="2000">
                          <a:solidFill>
                            <a:srgbClr val="FFFFFF"/>
                          </a:solidFill>
                          <a:latin typeface="Be Vietnam"/>
                          <a:ea typeface="Be Vietnam"/>
                          <a:cs typeface="Be Vietnam"/>
                          <a:sym typeface="Be Vietnam"/>
                        </a:rPr>
                        <a:t>Dibimbing.id (2025)</a:t>
                      </a:r>
                      <a:endParaRPr lang="en-US" sz="1100"/>
                    </a:p>
                    <a:p>
                      <a:pPr algn="ctr">
                        <a:lnSpc>
                          <a:spcPts val="2800"/>
                        </a:lnSpc>
                      </a:pPr>
                      <a:r>
                        <a:rPr lang="en-US" sz="2000">
                          <a:solidFill>
                            <a:srgbClr val="FFFFFF"/>
                          </a:solidFill>
                          <a:latin typeface="Be Vietnam"/>
                          <a:ea typeface="Be Vietnam"/>
                          <a:cs typeface="Be Vietnam"/>
                          <a:sym typeface="Be Vietnam"/>
                        </a:rPr>
                        <a:t>Da</a:t>
                      </a:r>
                      <a:r>
                        <a:rPr lang="en-US" sz="2000">
                          <a:solidFill>
                            <a:srgbClr val="FFFFFF"/>
                          </a:solidFill>
                          <a:latin typeface="Be Vietnam"/>
                          <a:ea typeface="Be Vietnam"/>
                          <a:cs typeface="Be Vietnam"/>
                          <a:sym typeface="Be Vietnam"/>
                        </a:rPr>
                        <a:t>ta Science &amp;</a:t>
                      </a:r>
                      <a:r>
                        <a:rPr lang="en-US" sz="2000">
                          <a:solidFill>
                            <a:srgbClr val="FFFFFF"/>
                          </a:solidFill>
                          <a:latin typeface="Be Vietnam"/>
                          <a:ea typeface="Be Vietnam"/>
                          <a:cs typeface="Be Vietnam"/>
                          <a:sym typeface="Be Vietnam"/>
                        </a:rPr>
                        <a:t> </a:t>
                      </a:r>
                      <a:r>
                        <a:rPr lang="en-US" sz="2000">
                          <a:solidFill>
                            <a:srgbClr val="FFFFFF"/>
                          </a:solidFill>
                          <a:latin typeface="Be Vietnam"/>
                          <a:ea typeface="Be Vietnam"/>
                          <a:cs typeface="Be Vietnam"/>
                          <a:sym typeface="Be Vietnam"/>
                        </a:rPr>
                        <a:t>D</a:t>
                      </a:r>
                      <a:r>
                        <a:rPr lang="en-US" sz="2000">
                          <a:solidFill>
                            <a:srgbClr val="FFFFFF"/>
                          </a:solidFill>
                          <a:latin typeface="Be Vietnam"/>
                          <a:ea typeface="Be Vietnam"/>
                          <a:cs typeface="Be Vietnam"/>
                          <a:sym typeface="Be Vietnam"/>
                        </a:rPr>
                        <a:t>a</a:t>
                      </a:r>
                      <a:r>
                        <a:rPr lang="en-US" sz="2000">
                          <a:solidFill>
                            <a:srgbClr val="FFFFFF"/>
                          </a:solidFill>
                          <a:latin typeface="Be Vietnam"/>
                          <a:ea typeface="Be Vietnam"/>
                          <a:cs typeface="Be Vietnam"/>
                          <a:sym typeface="Be Vietnam"/>
                        </a:rPr>
                        <a:t>t</a:t>
                      </a:r>
                      <a:r>
                        <a:rPr lang="en-US" sz="2000">
                          <a:solidFill>
                            <a:srgbClr val="FFFFFF"/>
                          </a:solidFill>
                          <a:latin typeface="Be Vietnam"/>
                          <a:ea typeface="Be Vietnam"/>
                          <a:cs typeface="Be Vietnam"/>
                          <a:sym typeface="Be Vietnam"/>
                        </a:rPr>
                        <a:t>a</a:t>
                      </a:r>
                      <a:r>
                        <a:rPr lang="en-US" sz="2000">
                          <a:solidFill>
                            <a:srgbClr val="FFFFFF"/>
                          </a:solidFill>
                          <a:latin typeface="Be Vietnam"/>
                          <a:ea typeface="Be Vietnam"/>
                          <a:cs typeface="Be Vietnam"/>
                          <a:sym typeface="Be Vietnam"/>
                        </a:rPr>
                        <a:t> Analyst Bootcamp Batch 34 </a:t>
                      </a:r>
                    </a:p>
                  </a:txBody>
                  <a:tcPr marL="190500" marR="190500" marT="190500" marB="190500" anchor="ctr">
                    <a:lnL cmpd="sng" algn="ctr" cap="flat" w="9525">
                      <a:solidFill>
                        <a:srgbClr val="F5334E"/>
                      </a:solidFill>
                      <a:prstDash val="solid"/>
                      <a:round/>
                      <a:headEnd type="none" w="med" len="med"/>
                      <a:tailEnd type="none" w="med" len="med"/>
                    </a:lnL>
                    <a:lnR cmpd="sng" algn="ctr" cap="flat" w="9525">
                      <a:solidFill>
                        <a:srgbClr val="F5334E"/>
                      </a:solidFill>
                      <a:prstDash val="solid"/>
                      <a:round/>
                      <a:headEnd type="none" w="med" len="med"/>
                      <a:tailEnd type="none" w="med" len="med"/>
                    </a:lnR>
                    <a:lnT cmpd="sng" algn="ctr" cap="flat" w="9525">
                      <a:solidFill>
                        <a:srgbClr val="F5334E"/>
                      </a:solidFill>
                      <a:prstDash val="solid"/>
                      <a:round/>
                      <a:headEnd type="none" w="med" len="med"/>
                      <a:tailEnd type="none" w="med" len="med"/>
                    </a:lnT>
                    <a:lnB cmpd="sng" algn="ctr" cap="flat" w="9525">
                      <a:solidFill>
                        <a:srgbClr val="F5334E"/>
                      </a:solidFill>
                      <a:prstDash val="solid"/>
                      <a:round/>
                      <a:headEnd type="none" w="med" len="med"/>
                      <a:tailEnd type="none" w="med" len="med"/>
                    </a:lnB>
                    <a:solidFill>
                      <a:srgbClr val="F5334E"/>
                    </a:solidFill>
                  </a:tcPr>
                </a:tc>
              </a:tr>
              <a:tr h="1279758">
                <a:tc>
                  <a:txBody>
                    <a:bodyPr anchor="t" rtlCol="false"/>
                    <a:lstStyle/>
                    <a:p>
                      <a:pPr algn="just">
                        <a:lnSpc>
                          <a:spcPts val="2800"/>
                        </a:lnSpc>
                        <a:defRPr/>
                      </a:pPr>
                      <a:r>
                        <a:rPr lang="en-US" sz="2000">
                          <a:solidFill>
                            <a:srgbClr val="022658"/>
                          </a:solidFill>
                          <a:latin typeface="Be Vietnam"/>
                          <a:ea typeface="Be Vietnam"/>
                          <a:cs typeface="Be Vietnam"/>
                          <a:sym typeface="Be Vietnam"/>
                        </a:rPr>
                        <a:t>Mempelajari statistika, data analytics, machine learning, visualisasi data, serta mengerjakan berbagai proyek penerapan data science.</a:t>
                      </a:r>
                      <a:endParaRPr lang="en-US" sz="1100"/>
                    </a:p>
                  </a:txBody>
                  <a:tcPr marL="190500" marR="190500" marT="190500" marB="190500" anchor="ctr">
                    <a:lnL cmpd="sng" algn="ctr" cap="flat" w="9525">
                      <a:solidFill>
                        <a:srgbClr val="F5334E"/>
                      </a:solidFill>
                      <a:prstDash val="solid"/>
                      <a:round/>
                      <a:headEnd type="none" w="med" len="med"/>
                      <a:tailEnd type="none" w="med" len="med"/>
                    </a:lnL>
                    <a:lnR cmpd="sng" algn="ctr" cap="flat" w="9525">
                      <a:solidFill>
                        <a:srgbClr val="F5334E"/>
                      </a:solidFill>
                      <a:prstDash val="solid"/>
                      <a:round/>
                      <a:headEnd type="none" w="med" len="med"/>
                      <a:tailEnd type="none" w="med" len="med"/>
                    </a:lnR>
                    <a:lnT cmpd="sng" algn="ctr" cap="flat" w="9525">
                      <a:solidFill>
                        <a:srgbClr val="F5334E"/>
                      </a:solidFill>
                      <a:prstDash val="solid"/>
                      <a:round/>
                      <a:headEnd type="none" w="med" len="med"/>
                      <a:tailEnd type="none" w="med" len="med"/>
                    </a:lnT>
                    <a:lnB cmpd="sng" algn="ctr" cap="flat" w="9525">
                      <a:solidFill>
                        <a:srgbClr val="F5334E"/>
                      </a:solidFill>
                      <a:prstDash val="solid"/>
                      <a:round/>
                      <a:headEnd type="none" w="med" len="med"/>
                      <a:tailEnd type="none" w="med" len="med"/>
                    </a:lnB>
                  </a:tcPr>
                </a:tc>
              </a:tr>
              <a:tr h="1481942">
                <a:tc>
                  <a:txBody>
                    <a:bodyPr anchor="t" rtlCol="false"/>
                    <a:lstStyle/>
                    <a:p>
                      <a:pPr algn="ctr">
                        <a:lnSpc>
                          <a:spcPts val="2800"/>
                        </a:lnSpc>
                        <a:defRPr/>
                      </a:pPr>
                      <a:r>
                        <a:rPr lang="en-US" sz="2000">
                          <a:solidFill>
                            <a:srgbClr val="FFFFFF"/>
                          </a:solidFill>
                          <a:latin typeface="Be Vietnam"/>
                          <a:ea typeface="Be Vietnam"/>
                          <a:cs typeface="Be Vietnam"/>
                          <a:sym typeface="Be Vietnam"/>
                        </a:rPr>
                        <a:t>PT. Grab Teknologi Indonesia (2024-Now)</a:t>
                      </a:r>
                      <a:endParaRPr lang="en-US" sz="1100"/>
                    </a:p>
                    <a:p>
                      <a:pPr algn="ctr">
                        <a:lnSpc>
                          <a:spcPts val="2800"/>
                        </a:lnSpc>
                      </a:pPr>
                      <a:r>
                        <a:rPr lang="en-US" sz="2000">
                          <a:solidFill>
                            <a:srgbClr val="FFFFFF"/>
                          </a:solidFill>
                          <a:latin typeface="Be Vietnam"/>
                          <a:ea typeface="Be Vietnam"/>
                          <a:cs typeface="Be Vietnam"/>
                          <a:sym typeface="Be Vietnam"/>
                        </a:rPr>
                        <a:t>Demand Ops</a:t>
                      </a:r>
                    </a:p>
                  </a:txBody>
                  <a:tcPr marL="190500" marR="190500" marT="190500" marB="190500" anchor="ctr">
                    <a:lnL cmpd="sng" algn="ctr" cap="flat" w="9525">
                      <a:solidFill>
                        <a:srgbClr val="F5334E"/>
                      </a:solidFill>
                      <a:prstDash val="solid"/>
                      <a:round/>
                      <a:headEnd type="none" w="med" len="med"/>
                      <a:tailEnd type="none" w="med" len="med"/>
                    </a:lnL>
                    <a:lnR cmpd="sng" algn="ctr" cap="flat" w="9525">
                      <a:solidFill>
                        <a:srgbClr val="F5334E"/>
                      </a:solidFill>
                      <a:prstDash val="solid"/>
                      <a:round/>
                      <a:headEnd type="none" w="med" len="med"/>
                      <a:tailEnd type="none" w="med" len="med"/>
                    </a:lnR>
                    <a:lnT cmpd="sng" algn="ctr" cap="flat" w="9525">
                      <a:solidFill>
                        <a:srgbClr val="F5334E"/>
                      </a:solidFill>
                      <a:prstDash val="solid"/>
                      <a:round/>
                      <a:headEnd type="none" w="med" len="med"/>
                      <a:tailEnd type="none" w="med" len="med"/>
                    </a:lnT>
                    <a:lnB cmpd="sng" algn="ctr" cap="flat" w="9525">
                      <a:solidFill>
                        <a:srgbClr val="F5334E"/>
                      </a:solidFill>
                      <a:prstDash val="solid"/>
                      <a:round/>
                      <a:headEnd type="none" w="med" len="med"/>
                      <a:tailEnd type="none" w="med" len="med"/>
                    </a:lnB>
                    <a:solidFill>
                      <a:srgbClr val="F5334E"/>
                    </a:solidFill>
                  </a:tcPr>
                </a:tc>
              </a:tr>
              <a:tr h="1516163">
                <a:tc>
                  <a:txBody>
                    <a:bodyPr anchor="t" rtlCol="false"/>
                    <a:lstStyle/>
                    <a:p>
                      <a:pPr algn="just">
                        <a:lnSpc>
                          <a:spcPts val="2800"/>
                        </a:lnSpc>
                        <a:defRPr/>
                      </a:pPr>
                      <a:r>
                        <a:rPr lang="en-US" sz="2000">
                          <a:solidFill>
                            <a:srgbClr val="022658"/>
                          </a:solidFill>
                          <a:latin typeface="Be Vietnam"/>
                          <a:ea typeface="Be Vietnam"/>
                          <a:cs typeface="Be Vietnam"/>
                          <a:sym typeface="Be Vietnam"/>
                        </a:rPr>
                        <a:t>Menangani lebih dari 70 setup promosi setiap minggu, memastikan semua sesuai spesifikasi permintaan, melakukan </a:t>
                      </a:r>
                      <a:r>
                        <a:rPr lang="en-US" sz="2000">
                          <a:solidFill>
                            <a:srgbClr val="022658"/>
                          </a:solidFill>
                          <a:latin typeface="Be Vietnam"/>
                          <a:ea typeface="Be Vietnam"/>
                          <a:cs typeface="Be Vietnam"/>
                          <a:sym typeface="Be Vietnam"/>
                        </a:rPr>
                        <a:t>peng</a:t>
                      </a:r>
                      <a:r>
                        <a:rPr lang="en-US" sz="2000">
                          <a:solidFill>
                            <a:srgbClr val="022658"/>
                          </a:solidFill>
                          <a:latin typeface="Be Vietnam"/>
                          <a:ea typeface="Be Vietnam"/>
                          <a:cs typeface="Be Vietnam"/>
                          <a:sym typeface="Be Vietnam"/>
                        </a:rPr>
                        <a:t>ecek</a:t>
                      </a:r>
                      <a:r>
                        <a:rPr lang="en-US" sz="2000">
                          <a:solidFill>
                            <a:srgbClr val="022658"/>
                          </a:solidFill>
                          <a:latin typeface="Be Vietnam"/>
                          <a:ea typeface="Be Vietnam"/>
                          <a:cs typeface="Be Vietnam"/>
                          <a:sym typeface="Be Vietnam"/>
                        </a:rPr>
                        <a:t>a</a:t>
                      </a:r>
                      <a:r>
                        <a:rPr lang="en-US" sz="2000">
                          <a:solidFill>
                            <a:srgbClr val="022658"/>
                          </a:solidFill>
                          <a:latin typeface="Be Vietnam"/>
                          <a:ea typeface="Be Vietnam"/>
                          <a:cs typeface="Be Vietnam"/>
                          <a:sym typeface="Be Vietnam"/>
                        </a:rPr>
                        <a:t>n kualita</a:t>
                      </a:r>
                      <a:r>
                        <a:rPr lang="en-US" sz="2000">
                          <a:solidFill>
                            <a:srgbClr val="022658"/>
                          </a:solidFill>
                          <a:latin typeface="Be Vietnam"/>
                          <a:ea typeface="Be Vietnam"/>
                          <a:cs typeface="Be Vietnam"/>
                          <a:sym typeface="Be Vietnam"/>
                        </a:rPr>
                        <a:t>s</a:t>
                      </a:r>
                      <a:r>
                        <a:rPr lang="en-US" sz="2000">
                          <a:solidFill>
                            <a:srgbClr val="022658"/>
                          </a:solidFill>
                          <a:latin typeface="Be Vietnam"/>
                          <a:ea typeface="Be Vietnam"/>
                          <a:cs typeface="Be Vietnam"/>
                          <a:sym typeface="Be Vietnam"/>
                        </a:rPr>
                        <a:t> mekanisme promo, dan memastikan semua promo b</a:t>
                      </a:r>
                      <a:r>
                        <a:rPr lang="en-US" sz="2000">
                          <a:solidFill>
                            <a:srgbClr val="022658"/>
                          </a:solidFill>
                          <a:latin typeface="Be Vietnam"/>
                          <a:ea typeface="Be Vietnam"/>
                          <a:cs typeface="Be Vietnam"/>
                          <a:sym typeface="Be Vietnam"/>
                        </a:rPr>
                        <a:t>erjalan</a:t>
                      </a:r>
                      <a:r>
                        <a:rPr lang="en-US" sz="2000">
                          <a:solidFill>
                            <a:srgbClr val="022658"/>
                          </a:solidFill>
                          <a:latin typeface="Be Vietnam"/>
                          <a:ea typeface="Be Vietnam"/>
                          <a:cs typeface="Be Vietnam"/>
                          <a:sym typeface="Be Vietnam"/>
                        </a:rPr>
                        <a:t> ses</a:t>
                      </a:r>
                      <a:r>
                        <a:rPr lang="en-US" sz="2000">
                          <a:solidFill>
                            <a:srgbClr val="022658"/>
                          </a:solidFill>
                          <a:latin typeface="Be Vietnam"/>
                          <a:ea typeface="Be Vietnam"/>
                          <a:cs typeface="Be Vietnam"/>
                          <a:sym typeface="Be Vietnam"/>
                        </a:rPr>
                        <a:t>ua</a:t>
                      </a:r>
                      <a:r>
                        <a:rPr lang="en-US" sz="2000">
                          <a:solidFill>
                            <a:srgbClr val="022658"/>
                          </a:solidFill>
                          <a:latin typeface="Be Vietnam"/>
                          <a:ea typeface="Be Vietnam"/>
                          <a:cs typeface="Be Vietnam"/>
                          <a:sym typeface="Be Vietnam"/>
                        </a:rPr>
                        <a:t>i jadwal.</a:t>
                      </a:r>
                      <a:endParaRPr lang="en-US" sz="1100"/>
                    </a:p>
                  </a:txBody>
                  <a:tcPr marL="190500" marR="190500" marT="190500" marB="190500" anchor="ctr">
                    <a:lnL cmpd="sng" algn="ctr" cap="flat" w="9525">
                      <a:solidFill>
                        <a:srgbClr val="F5334E"/>
                      </a:solidFill>
                      <a:prstDash val="solid"/>
                      <a:round/>
                      <a:headEnd type="none" w="med" len="med"/>
                      <a:tailEnd type="none" w="med" len="med"/>
                    </a:lnL>
                    <a:lnR cmpd="sng" algn="ctr" cap="flat" w="9525">
                      <a:solidFill>
                        <a:srgbClr val="F5334E"/>
                      </a:solidFill>
                      <a:prstDash val="solid"/>
                      <a:round/>
                      <a:headEnd type="none" w="med" len="med"/>
                      <a:tailEnd type="none" w="med" len="med"/>
                    </a:lnR>
                    <a:lnT cmpd="sng" algn="ctr" cap="flat" w="9525">
                      <a:solidFill>
                        <a:srgbClr val="F5334E"/>
                      </a:solidFill>
                      <a:prstDash val="solid"/>
                      <a:round/>
                      <a:headEnd type="none" w="med" len="med"/>
                      <a:tailEnd type="none" w="med" len="med"/>
                    </a:lnT>
                    <a:lnB cmpd="sng" algn="ctr" cap="flat" w="9525">
                      <a:solidFill>
                        <a:srgbClr val="F5334E"/>
                      </a:solidFill>
                      <a:prstDash val="solid"/>
                      <a:round/>
                      <a:headEnd type="none" w="med" len="med"/>
                      <a:tailEnd type="none" w="med" len="med"/>
                    </a:lnB>
                  </a:tcPr>
                </a:tc>
              </a:tr>
            </a:tbl>
          </a:graphicData>
        </a:graphic>
      </p:graphicFrame>
      <p:sp>
        <p:nvSpPr>
          <p:cNvPr name="TextBox 3" id="3"/>
          <p:cNvSpPr txBox="true"/>
          <p:nvPr/>
        </p:nvSpPr>
        <p:spPr>
          <a:xfrm rot="0">
            <a:off x="1028700" y="2895773"/>
            <a:ext cx="5517192" cy="1638300"/>
          </a:xfrm>
          <a:prstGeom prst="rect">
            <a:avLst/>
          </a:prstGeom>
        </p:spPr>
        <p:txBody>
          <a:bodyPr anchor="t" rtlCol="false" tIns="0" lIns="0" bIns="0" rIns="0">
            <a:spAutoFit/>
          </a:bodyPr>
          <a:lstStyle/>
          <a:p>
            <a:pPr algn="l" marL="0" indent="0" lvl="0">
              <a:lnSpc>
                <a:spcPts val="6000"/>
              </a:lnSpc>
              <a:spcBef>
                <a:spcPct val="0"/>
              </a:spcBef>
            </a:pPr>
            <a:r>
              <a:rPr lang="en-US" sz="6000" spc="-179">
                <a:solidFill>
                  <a:srgbClr val="022658"/>
                </a:solidFill>
                <a:latin typeface="Telegraf"/>
                <a:ea typeface="Telegraf"/>
                <a:cs typeface="Telegraf"/>
                <a:sym typeface="Telegraf"/>
              </a:rPr>
              <a:t>EDUCATION BACKGROUND</a:t>
            </a:r>
          </a:p>
        </p:txBody>
      </p:sp>
      <p:sp>
        <p:nvSpPr>
          <p:cNvPr name="TextBox 4" id="4"/>
          <p:cNvSpPr txBox="true"/>
          <p:nvPr/>
        </p:nvSpPr>
        <p:spPr>
          <a:xfrm rot="0">
            <a:off x="1028700" y="6850308"/>
            <a:ext cx="5517192" cy="1638300"/>
          </a:xfrm>
          <a:prstGeom prst="rect">
            <a:avLst/>
          </a:prstGeom>
        </p:spPr>
        <p:txBody>
          <a:bodyPr anchor="t" rtlCol="false" tIns="0" lIns="0" bIns="0" rIns="0">
            <a:spAutoFit/>
          </a:bodyPr>
          <a:lstStyle/>
          <a:p>
            <a:pPr algn="l" marL="0" indent="0" lvl="0">
              <a:lnSpc>
                <a:spcPts val="6000"/>
              </a:lnSpc>
              <a:spcBef>
                <a:spcPct val="0"/>
              </a:spcBef>
            </a:pPr>
            <a:r>
              <a:rPr lang="en-US" sz="6000" spc="-179">
                <a:solidFill>
                  <a:srgbClr val="022658"/>
                </a:solidFill>
                <a:latin typeface="Telegraf"/>
                <a:ea typeface="Telegraf"/>
                <a:cs typeface="Telegraf"/>
                <a:sym typeface="Telegraf"/>
              </a:rPr>
              <a:t>WORK EXPERINCE</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7457002" cy="10287000"/>
            <a:chOff x="0" y="0"/>
            <a:chExt cx="1963984" cy="2709333"/>
          </a:xfrm>
        </p:grpSpPr>
        <p:sp>
          <p:nvSpPr>
            <p:cNvPr name="Freeform 3" id="3"/>
            <p:cNvSpPr/>
            <p:nvPr/>
          </p:nvSpPr>
          <p:spPr>
            <a:xfrm flipH="false" flipV="false" rot="0">
              <a:off x="0" y="0"/>
              <a:ext cx="1963984" cy="2709333"/>
            </a:xfrm>
            <a:custGeom>
              <a:avLst/>
              <a:gdLst/>
              <a:ahLst/>
              <a:cxnLst/>
              <a:rect r="r" b="b" t="t" l="l"/>
              <a:pathLst>
                <a:path h="2709333" w="1963984">
                  <a:moveTo>
                    <a:pt x="0" y="0"/>
                  </a:moveTo>
                  <a:lnTo>
                    <a:pt x="1963984" y="0"/>
                  </a:lnTo>
                  <a:lnTo>
                    <a:pt x="1963984" y="2709333"/>
                  </a:lnTo>
                  <a:lnTo>
                    <a:pt x="0" y="2709333"/>
                  </a:lnTo>
                  <a:close/>
                </a:path>
              </a:pathLst>
            </a:custGeom>
            <a:solidFill>
              <a:srgbClr val="F5334E"/>
            </a:solidFill>
          </p:spPr>
        </p:sp>
        <p:sp>
          <p:nvSpPr>
            <p:cNvPr name="TextBox 4" id="4"/>
            <p:cNvSpPr txBox="true"/>
            <p:nvPr/>
          </p:nvSpPr>
          <p:spPr>
            <a:xfrm>
              <a:off x="0" y="-57150"/>
              <a:ext cx="1963984" cy="2766483"/>
            </a:xfrm>
            <a:prstGeom prst="rect">
              <a:avLst/>
            </a:prstGeom>
          </p:spPr>
          <p:txBody>
            <a:bodyPr anchor="ctr" rtlCol="false" tIns="50800" lIns="50800" bIns="50800" rIns="50800"/>
            <a:lstStyle/>
            <a:p>
              <a:pPr algn="ctr">
                <a:lnSpc>
                  <a:spcPts val="3500"/>
                </a:lnSpc>
              </a:pPr>
            </a:p>
          </p:txBody>
        </p:sp>
      </p:grpSp>
      <p:sp>
        <p:nvSpPr>
          <p:cNvPr name="TextBox 5" id="5"/>
          <p:cNvSpPr txBox="true"/>
          <p:nvPr/>
        </p:nvSpPr>
        <p:spPr>
          <a:xfrm rot="0">
            <a:off x="868977" y="3509963"/>
            <a:ext cx="5670350" cy="5283200"/>
          </a:xfrm>
          <a:prstGeom prst="rect">
            <a:avLst/>
          </a:prstGeom>
        </p:spPr>
        <p:txBody>
          <a:bodyPr anchor="t" rtlCol="false" tIns="0" lIns="0" bIns="0" rIns="0">
            <a:spAutoFit/>
          </a:bodyPr>
          <a:lstStyle/>
          <a:p>
            <a:pPr algn="just" marL="0" indent="0" lvl="1">
              <a:lnSpc>
                <a:spcPts val="2800"/>
              </a:lnSpc>
              <a:spcBef>
                <a:spcPct val="0"/>
              </a:spcBef>
            </a:pPr>
            <a:r>
              <a:rPr lang="en-US" sz="2000">
                <a:solidFill>
                  <a:srgbClr val="FFFFFF"/>
                </a:solidFill>
                <a:latin typeface="Be Vietnam"/>
                <a:ea typeface="Be Vietnam"/>
                <a:cs typeface="Be Vietnam"/>
                <a:sym typeface="Be Vietnam"/>
              </a:rPr>
              <a:t>Saya memiliki kemampuan dalam mengeksplorasi dan menganalisis data untuk menemukan pola dan insight bisnis, didukung pemahaman yang kuat pada statistika deskriptif, inferensial, dan pengujian hipotesis. Saya terbiasa mengolah, membersihkan, dan memproses dataset besar menggunakan Python, serta mahir dalam manipulasi data dengan Pandas dan SQL. Selain itu, saya berpengalaman membangun model prediktif menggunakan teknik machine learning seperti regresi, Random Forest, dan XGBoost, termasuk menangani data tidak seimbang dan melakukan optimasi model agar performanya maksimal.</a:t>
            </a:r>
          </a:p>
        </p:txBody>
      </p:sp>
      <p:grpSp>
        <p:nvGrpSpPr>
          <p:cNvPr name="Group 6" id="6"/>
          <p:cNvGrpSpPr/>
          <p:nvPr/>
        </p:nvGrpSpPr>
        <p:grpSpPr>
          <a:xfrm rot="0">
            <a:off x="9975489" y="1170261"/>
            <a:ext cx="6998061" cy="2561528"/>
            <a:chOff x="0" y="0"/>
            <a:chExt cx="2342659" cy="857492"/>
          </a:xfrm>
        </p:grpSpPr>
        <p:sp>
          <p:nvSpPr>
            <p:cNvPr name="Freeform 7" id="7"/>
            <p:cNvSpPr/>
            <p:nvPr/>
          </p:nvSpPr>
          <p:spPr>
            <a:xfrm flipH="false" flipV="false" rot="0">
              <a:off x="0" y="0"/>
              <a:ext cx="2342659" cy="857492"/>
            </a:xfrm>
            <a:custGeom>
              <a:avLst/>
              <a:gdLst/>
              <a:ahLst/>
              <a:cxnLst/>
              <a:rect r="r" b="b" t="t" l="l"/>
              <a:pathLst>
                <a:path h="857492" w="2342659">
                  <a:moveTo>
                    <a:pt x="0" y="0"/>
                  </a:moveTo>
                  <a:lnTo>
                    <a:pt x="2342659" y="0"/>
                  </a:lnTo>
                  <a:lnTo>
                    <a:pt x="2342659" y="857492"/>
                  </a:lnTo>
                  <a:lnTo>
                    <a:pt x="0" y="857492"/>
                  </a:lnTo>
                  <a:close/>
                </a:path>
              </a:pathLst>
            </a:custGeom>
            <a:solidFill>
              <a:srgbClr val="F5334E"/>
            </a:solidFill>
          </p:spPr>
        </p:sp>
        <p:sp>
          <p:nvSpPr>
            <p:cNvPr name="TextBox 8" id="8"/>
            <p:cNvSpPr txBox="true"/>
            <p:nvPr/>
          </p:nvSpPr>
          <p:spPr>
            <a:xfrm>
              <a:off x="0" y="104775"/>
              <a:ext cx="2342659" cy="752717"/>
            </a:xfrm>
            <a:prstGeom prst="rect">
              <a:avLst/>
            </a:prstGeom>
          </p:spPr>
          <p:txBody>
            <a:bodyPr anchor="ctr" rtlCol="false" tIns="50800" lIns="50800" bIns="50800" rIns="50800"/>
            <a:lstStyle/>
            <a:p>
              <a:pPr algn="ctr">
                <a:lnSpc>
                  <a:spcPts val="1925"/>
                </a:lnSpc>
              </a:pPr>
            </a:p>
          </p:txBody>
        </p:sp>
      </p:grpSp>
      <p:sp>
        <p:nvSpPr>
          <p:cNvPr name="TextBox 9" id="9"/>
          <p:cNvSpPr txBox="true"/>
          <p:nvPr/>
        </p:nvSpPr>
        <p:spPr>
          <a:xfrm rot="0">
            <a:off x="10110672" y="2024301"/>
            <a:ext cx="1578952" cy="1034423"/>
          </a:xfrm>
          <a:prstGeom prst="rect">
            <a:avLst/>
          </a:prstGeom>
        </p:spPr>
        <p:txBody>
          <a:bodyPr anchor="t" rtlCol="false" tIns="0" lIns="0" bIns="0" rIns="0">
            <a:spAutoFit/>
          </a:bodyPr>
          <a:lstStyle/>
          <a:p>
            <a:pPr algn="l">
              <a:lnSpc>
                <a:spcPts val="7680"/>
              </a:lnSpc>
            </a:pPr>
            <a:r>
              <a:rPr lang="en-US" sz="8000" spc="-656">
                <a:solidFill>
                  <a:srgbClr val="EFEFEF"/>
                </a:solidFill>
                <a:latin typeface="TT Hoves"/>
                <a:ea typeface="TT Hoves"/>
                <a:cs typeface="TT Hoves"/>
                <a:sym typeface="TT Hoves"/>
              </a:rPr>
              <a:t>01.</a:t>
            </a:r>
          </a:p>
        </p:txBody>
      </p:sp>
      <p:sp>
        <p:nvSpPr>
          <p:cNvPr name="TextBox 10" id="10"/>
          <p:cNvSpPr txBox="true"/>
          <p:nvPr/>
        </p:nvSpPr>
        <p:spPr>
          <a:xfrm rot="0">
            <a:off x="12601687" y="6540872"/>
            <a:ext cx="7498697" cy="4832876"/>
          </a:xfrm>
          <a:prstGeom prst="rect">
            <a:avLst/>
          </a:prstGeom>
        </p:spPr>
        <p:txBody>
          <a:bodyPr anchor="t" rtlCol="false" tIns="0" lIns="0" bIns="0" rIns="0">
            <a:spAutoFit/>
          </a:bodyPr>
          <a:lstStyle/>
          <a:p>
            <a:pPr algn="ctr">
              <a:lnSpc>
                <a:spcPts val="35614"/>
              </a:lnSpc>
            </a:pPr>
            <a:r>
              <a:rPr lang="en-US" b="true" sz="37888" spc="-1856">
                <a:solidFill>
                  <a:srgbClr val="343434"/>
                </a:solidFill>
                <a:latin typeface="TT Hoves Bold"/>
                <a:ea typeface="TT Hoves Bold"/>
                <a:cs typeface="TT Hoves Bold"/>
                <a:sym typeface="TT Hoves Bold"/>
              </a:rPr>
              <a:t>02</a:t>
            </a:r>
          </a:p>
        </p:txBody>
      </p:sp>
      <p:grpSp>
        <p:nvGrpSpPr>
          <p:cNvPr name="Group 11" id="11"/>
          <p:cNvGrpSpPr/>
          <p:nvPr/>
        </p:nvGrpSpPr>
        <p:grpSpPr>
          <a:xfrm rot="0">
            <a:off x="9975489" y="3862348"/>
            <a:ext cx="6998061" cy="2561528"/>
            <a:chOff x="0" y="0"/>
            <a:chExt cx="2342659" cy="857492"/>
          </a:xfrm>
        </p:grpSpPr>
        <p:sp>
          <p:nvSpPr>
            <p:cNvPr name="Freeform 12" id="12"/>
            <p:cNvSpPr/>
            <p:nvPr/>
          </p:nvSpPr>
          <p:spPr>
            <a:xfrm flipH="false" flipV="false" rot="0">
              <a:off x="0" y="0"/>
              <a:ext cx="2342659" cy="857492"/>
            </a:xfrm>
            <a:custGeom>
              <a:avLst/>
              <a:gdLst/>
              <a:ahLst/>
              <a:cxnLst/>
              <a:rect r="r" b="b" t="t" l="l"/>
              <a:pathLst>
                <a:path h="857492" w="2342659">
                  <a:moveTo>
                    <a:pt x="0" y="0"/>
                  </a:moveTo>
                  <a:lnTo>
                    <a:pt x="2342659" y="0"/>
                  </a:lnTo>
                  <a:lnTo>
                    <a:pt x="2342659" y="857492"/>
                  </a:lnTo>
                  <a:lnTo>
                    <a:pt x="0" y="857492"/>
                  </a:lnTo>
                  <a:close/>
                </a:path>
              </a:pathLst>
            </a:custGeom>
            <a:solidFill>
              <a:srgbClr val="F5334E"/>
            </a:solidFill>
          </p:spPr>
        </p:sp>
        <p:sp>
          <p:nvSpPr>
            <p:cNvPr name="TextBox 13" id="13"/>
            <p:cNvSpPr txBox="true"/>
            <p:nvPr/>
          </p:nvSpPr>
          <p:spPr>
            <a:xfrm>
              <a:off x="0" y="104775"/>
              <a:ext cx="2342659" cy="752717"/>
            </a:xfrm>
            <a:prstGeom prst="rect">
              <a:avLst/>
            </a:prstGeom>
          </p:spPr>
          <p:txBody>
            <a:bodyPr anchor="ctr" rtlCol="false" tIns="50800" lIns="50800" bIns="50800" rIns="50800"/>
            <a:lstStyle/>
            <a:p>
              <a:pPr algn="ctr">
                <a:lnSpc>
                  <a:spcPts val="1925"/>
                </a:lnSpc>
              </a:pPr>
            </a:p>
          </p:txBody>
        </p:sp>
      </p:grpSp>
      <p:grpSp>
        <p:nvGrpSpPr>
          <p:cNvPr name="Group 14" id="14"/>
          <p:cNvGrpSpPr/>
          <p:nvPr/>
        </p:nvGrpSpPr>
        <p:grpSpPr>
          <a:xfrm rot="0">
            <a:off x="9975489" y="6557226"/>
            <a:ext cx="6998061" cy="2943225"/>
            <a:chOff x="0" y="0"/>
            <a:chExt cx="2342659" cy="985269"/>
          </a:xfrm>
        </p:grpSpPr>
        <p:sp>
          <p:nvSpPr>
            <p:cNvPr name="Freeform 15" id="15"/>
            <p:cNvSpPr/>
            <p:nvPr/>
          </p:nvSpPr>
          <p:spPr>
            <a:xfrm flipH="false" flipV="false" rot="0">
              <a:off x="0" y="0"/>
              <a:ext cx="2342659" cy="985269"/>
            </a:xfrm>
            <a:custGeom>
              <a:avLst/>
              <a:gdLst/>
              <a:ahLst/>
              <a:cxnLst/>
              <a:rect r="r" b="b" t="t" l="l"/>
              <a:pathLst>
                <a:path h="985269" w="2342659">
                  <a:moveTo>
                    <a:pt x="0" y="0"/>
                  </a:moveTo>
                  <a:lnTo>
                    <a:pt x="2342659" y="0"/>
                  </a:lnTo>
                  <a:lnTo>
                    <a:pt x="2342659" y="985269"/>
                  </a:lnTo>
                  <a:lnTo>
                    <a:pt x="0" y="985269"/>
                  </a:lnTo>
                  <a:close/>
                </a:path>
              </a:pathLst>
            </a:custGeom>
            <a:solidFill>
              <a:srgbClr val="F5334E"/>
            </a:solidFill>
          </p:spPr>
        </p:sp>
        <p:sp>
          <p:nvSpPr>
            <p:cNvPr name="TextBox 16" id="16"/>
            <p:cNvSpPr txBox="true"/>
            <p:nvPr/>
          </p:nvSpPr>
          <p:spPr>
            <a:xfrm>
              <a:off x="0" y="104775"/>
              <a:ext cx="2342659" cy="880494"/>
            </a:xfrm>
            <a:prstGeom prst="rect">
              <a:avLst/>
            </a:prstGeom>
          </p:spPr>
          <p:txBody>
            <a:bodyPr anchor="ctr" rtlCol="false" tIns="50800" lIns="50800" bIns="50800" rIns="50800"/>
            <a:lstStyle/>
            <a:p>
              <a:pPr algn="ctr">
                <a:lnSpc>
                  <a:spcPts val="1925"/>
                </a:lnSpc>
              </a:pPr>
            </a:p>
          </p:txBody>
        </p:sp>
      </p:grpSp>
      <p:sp>
        <p:nvSpPr>
          <p:cNvPr name="TextBox 17" id="17"/>
          <p:cNvSpPr txBox="true"/>
          <p:nvPr/>
        </p:nvSpPr>
        <p:spPr>
          <a:xfrm rot="0">
            <a:off x="10110672" y="4717783"/>
            <a:ext cx="1578952" cy="1034423"/>
          </a:xfrm>
          <a:prstGeom prst="rect">
            <a:avLst/>
          </a:prstGeom>
        </p:spPr>
        <p:txBody>
          <a:bodyPr anchor="t" rtlCol="false" tIns="0" lIns="0" bIns="0" rIns="0">
            <a:spAutoFit/>
          </a:bodyPr>
          <a:lstStyle/>
          <a:p>
            <a:pPr algn="l">
              <a:lnSpc>
                <a:spcPts val="7680"/>
              </a:lnSpc>
            </a:pPr>
            <a:r>
              <a:rPr lang="en-US" sz="8000" spc="-656">
                <a:solidFill>
                  <a:srgbClr val="EFEFEF"/>
                </a:solidFill>
                <a:latin typeface="TT Hoves"/>
                <a:ea typeface="TT Hoves"/>
                <a:cs typeface="TT Hoves"/>
                <a:sym typeface="TT Hoves"/>
              </a:rPr>
              <a:t>02.</a:t>
            </a:r>
          </a:p>
        </p:txBody>
      </p:sp>
      <p:sp>
        <p:nvSpPr>
          <p:cNvPr name="TextBox 18" id="18"/>
          <p:cNvSpPr txBox="true"/>
          <p:nvPr/>
        </p:nvSpPr>
        <p:spPr>
          <a:xfrm rot="0">
            <a:off x="10110672" y="7411266"/>
            <a:ext cx="1578952" cy="1034423"/>
          </a:xfrm>
          <a:prstGeom prst="rect">
            <a:avLst/>
          </a:prstGeom>
        </p:spPr>
        <p:txBody>
          <a:bodyPr anchor="t" rtlCol="false" tIns="0" lIns="0" bIns="0" rIns="0">
            <a:spAutoFit/>
          </a:bodyPr>
          <a:lstStyle/>
          <a:p>
            <a:pPr algn="l">
              <a:lnSpc>
                <a:spcPts val="7680"/>
              </a:lnSpc>
            </a:pPr>
            <a:r>
              <a:rPr lang="en-US" sz="8000" spc="-656">
                <a:solidFill>
                  <a:srgbClr val="EFEFEF"/>
                </a:solidFill>
                <a:latin typeface="TT Hoves"/>
                <a:ea typeface="TT Hoves"/>
                <a:cs typeface="TT Hoves"/>
                <a:sym typeface="TT Hoves"/>
              </a:rPr>
              <a:t>03.</a:t>
            </a:r>
          </a:p>
        </p:txBody>
      </p:sp>
      <p:sp>
        <p:nvSpPr>
          <p:cNvPr name="TextBox 19" id="19"/>
          <p:cNvSpPr txBox="true"/>
          <p:nvPr/>
        </p:nvSpPr>
        <p:spPr>
          <a:xfrm rot="0">
            <a:off x="11592102" y="1271548"/>
            <a:ext cx="4758934" cy="2657475"/>
          </a:xfrm>
          <a:prstGeom prst="rect">
            <a:avLst/>
          </a:prstGeom>
        </p:spPr>
        <p:txBody>
          <a:bodyPr anchor="t" rtlCol="false" tIns="0" lIns="0" bIns="0" rIns="0">
            <a:spAutoFit/>
          </a:bodyPr>
          <a:lstStyle/>
          <a:p>
            <a:pPr algn="just" marL="431799" indent="-215899" lvl="1">
              <a:lnSpc>
                <a:spcPts val="2699"/>
              </a:lnSpc>
              <a:buFont typeface="Arial"/>
              <a:buChar char="•"/>
            </a:pPr>
            <a:r>
              <a:rPr lang="en-US" sz="1999" spc="31">
                <a:solidFill>
                  <a:srgbClr val="EFEFEF"/>
                </a:solidFill>
                <a:latin typeface="TT Hoves"/>
                <a:ea typeface="TT Hoves"/>
                <a:cs typeface="TT Hoves"/>
                <a:sym typeface="TT Hoves"/>
              </a:rPr>
              <a:t>Berpengalaman dalam mengeksplorasi dan menganalisis data untuk menemukan pola serta insight bisnis.</a:t>
            </a:r>
          </a:p>
          <a:p>
            <a:pPr algn="just" marL="431799" indent="-215899" lvl="1">
              <a:lnSpc>
                <a:spcPts val="2699"/>
              </a:lnSpc>
              <a:spcBef>
                <a:spcPct val="0"/>
              </a:spcBef>
              <a:buFont typeface="Arial"/>
              <a:buChar char="•"/>
            </a:pPr>
            <a:r>
              <a:rPr lang="en-US" sz="1999" spc="31">
                <a:solidFill>
                  <a:srgbClr val="EFEFEF"/>
                </a:solidFill>
                <a:latin typeface="TT Hoves"/>
                <a:ea typeface="TT Hoves"/>
                <a:cs typeface="TT Hoves"/>
                <a:sym typeface="TT Hoves"/>
              </a:rPr>
              <a:t>Menguasa</a:t>
            </a:r>
            <a:r>
              <a:rPr lang="en-US" sz="1999" spc="31">
                <a:solidFill>
                  <a:srgbClr val="EFEFEF"/>
                </a:solidFill>
                <a:latin typeface="TT Hoves"/>
                <a:ea typeface="TT Hoves"/>
                <a:cs typeface="TT Hoves"/>
                <a:sym typeface="TT Hoves"/>
              </a:rPr>
              <a:t>i statistika deskriptif, statistika inferensial, dan pengujian hipotesis.</a:t>
            </a:r>
          </a:p>
          <a:p>
            <a:pPr algn="just" marL="0" indent="0" lvl="0">
              <a:lnSpc>
                <a:spcPts val="2699"/>
              </a:lnSpc>
              <a:spcBef>
                <a:spcPct val="0"/>
              </a:spcBef>
            </a:pPr>
          </a:p>
        </p:txBody>
      </p:sp>
      <p:sp>
        <p:nvSpPr>
          <p:cNvPr name="TextBox 20" id="20"/>
          <p:cNvSpPr txBox="true"/>
          <p:nvPr/>
        </p:nvSpPr>
        <p:spPr>
          <a:xfrm rot="0">
            <a:off x="11592102" y="4200137"/>
            <a:ext cx="4758934" cy="1990725"/>
          </a:xfrm>
          <a:prstGeom prst="rect">
            <a:avLst/>
          </a:prstGeom>
        </p:spPr>
        <p:txBody>
          <a:bodyPr anchor="t" rtlCol="false" tIns="0" lIns="0" bIns="0" rIns="0">
            <a:spAutoFit/>
          </a:bodyPr>
          <a:lstStyle/>
          <a:p>
            <a:pPr algn="just" marL="431799" indent="-215899" lvl="1">
              <a:lnSpc>
                <a:spcPts val="2699"/>
              </a:lnSpc>
              <a:spcBef>
                <a:spcPct val="0"/>
              </a:spcBef>
              <a:buFont typeface="Arial"/>
              <a:buChar char="•"/>
            </a:pPr>
            <a:r>
              <a:rPr lang="en-US" sz="1999" spc="31">
                <a:solidFill>
                  <a:srgbClr val="EFEFEF"/>
                </a:solidFill>
                <a:latin typeface="TT Hoves"/>
                <a:ea typeface="TT Hoves"/>
                <a:cs typeface="TT Hoves"/>
                <a:sym typeface="TT Hoves"/>
              </a:rPr>
              <a:t>Terampil</a:t>
            </a:r>
            <a:r>
              <a:rPr lang="en-US" sz="1999" spc="31" strike="noStrike" u="none">
                <a:solidFill>
                  <a:srgbClr val="EFEFEF"/>
                </a:solidFill>
                <a:latin typeface="TT Hoves"/>
                <a:ea typeface="TT Hoves"/>
                <a:cs typeface="TT Hoves"/>
                <a:sym typeface="TT Hoves"/>
              </a:rPr>
              <a:t> </a:t>
            </a:r>
            <a:r>
              <a:rPr lang="en-US" sz="1999" spc="31" strike="noStrike" u="none">
                <a:solidFill>
                  <a:srgbClr val="EFEFEF"/>
                </a:solidFill>
                <a:latin typeface="TT Hoves"/>
                <a:ea typeface="TT Hoves"/>
                <a:cs typeface="TT Hoves"/>
                <a:sym typeface="TT Hoves"/>
              </a:rPr>
              <a:t>dalam</a:t>
            </a:r>
            <a:r>
              <a:rPr lang="en-US" sz="1999" spc="31" strike="noStrike" u="none">
                <a:solidFill>
                  <a:srgbClr val="EFEFEF"/>
                </a:solidFill>
                <a:latin typeface="TT Hoves"/>
                <a:ea typeface="TT Hoves"/>
                <a:cs typeface="TT Hoves"/>
                <a:sym typeface="TT Hoves"/>
              </a:rPr>
              <a:t> </a:t>
            </a:r>
            <a:r>
              <a:rPr lang="en-US" sz="1999" spc="31" strike="noStrike" u="none">
                <a:solidFill>
                  <a:srgbClr val="EFEFEF"/>
                </a:solidFill>
                <a:latin typeface="TT Hoves"/>
                <a:ea typeface="TT Hoves"/>
                <a:cs typeface="TT Hoves"/>
                <a:sym typeface="TT Hoves"/>
              </a:rPr>
              <a:t>m</a:t>
            </a:r>
            <a:r>
              <a:rPr lang="en-US" sz="1999" spc="31" strike="noStrike" u="none">
                <a:solidFill>
                  <a:srgbClr val="EFEFEF"/>
                </a:solidFill>
                <a:latin typeface="TT Hoves"/>
                <a:ea typeface="TT Hoves"/>
                <a:cs typeface="TT Hoves"/>
                <a:sym typeface="TT Hoves"/>
              </a:rPr>
              <a:t>e</a:t>
            </a:r>
            <a:r>
              <a:rPr lang="en-US" sz="1999" spc="31" strike="noStrike" u="none">
                <a:solidFill>
                  <a:srgbClr val="EFEFEF"/>
                </a:solidFill>
                <a:latin typeface="TT Hoves"/>
                <a:ea typeface="TT Hoves"/>
                <a:cs typeface="TT Hoves"/>
                <a:sym typeface="TT Hoves"/>
              </a:rPr>
              <a:t>mbersihk</a:t>
            </a:r>
            <a:r>
              <a:rPr lang="en-US" sz="1999" spc="31" strike="noStrike" u="none">
                <a:solidFill>
                  <a:srgbClr val="EFEFEF"/>
                </a:solidFill>
                <a:latin typeface="TT Hoves"/>
                <a:ea typeface="TT Hoves"/>
                <a:cs typeface="TT Hoves"/>
                <a:sym typeface="TT Hoves"/>
              </a:rPr>
              <a:t>an, memproses, </a:t>
            </a:r>
            <a:r>
              <a:rPr lang="en-US" sz="1999" spc="31" strike="noStrike" u="none">
                <a:solidFill>
                  <a:srgbClr val="EFEFEF"/>
                </a:solidFill>
                <a:latin typeface="TT Hoves"/>
                <a:ea typeface="TT Hoves"/>
                <a:cs typeface="TT Hoves"/>
                <a:sym typeface="TT Hoves"/>
              </a:rPr>
              <a:t>d</a:t>
            </a:r>
            <a:r>
              <a:rPr lang="en-US" sz="1999" spc="31" strike="noStrike" u="none">
                <a:solidFill>
                  <a:srgbClr val="EFEFEF"/>
                </a:solidFill>
                <a:latin typeface="TT Hoves"/>
                <a:ea typeface="TT Hoves"/>
                <a:cs typeface="TT Hoves"/>
                <a:sym typeface="TT Hoves"/>
              </a:rPr>
              <a:t>an menangani dataset</a:t>
            </a:r>
            <a:r>
              <a:rPr lang="en-US" sz="1999" spc="31" strike="noStrike" u="none">
                <a:solidFill>
                  <a:srgbClr val="EFEFEF"/>
                </a:solidFill>
                <a:latin typeface="TT Hoves"/>
                <a:ea typeface="TT Hoves"/>
                <a:cs typeface="TT Hoves"/>
                <a:sym typeface="TT Hoves"/>
              </a:rPr>
              <a:t> be</a:t>
            </a:r>
            <a:r>
              <a:rPr lang="en-US" sz="1999" spc="31" strike="noStrike" u="none">
                <a:solidFill>
                  <a:srgbClr val="EFEFEF"/>
                </a:solidFill>
                <a:latin typeface="TT Hoves"/>
                <a:ea typeface="TT Hoves"/>
                <a:cs typeface="TT Hoves"/>
                <a:sym typeface="TT Hoves"/>
              </a:rPr>
              <a:t>s</a:t>
            </a:r>
            <a:r>
              <a:rPr lang="en-US" sz="1999" spc="31" strike="noStrike" u="none">
                <a:solidFill>
                  <a:srgbClr val="EFEFEF"/>
                </a:solidFill>
                <a:latin typeface="TT Hoves"/>
                <a:ea typeface="TT Hoves"/>
                <a:cs typeface="TT Hoves"/>
                <a:sym typeface="TT Hoves"/>
              </a:rPr>
              <a:t>ar</a:t>
            </a:r>
            <a:r>
              <a:rPr lang="en-US" sz="1999" spc="31" strike="noStrike" u="none">
                <a:solidFill>
                  <a:srgbClr val="EFEFEF"/>
                </a:solidFill>
                <a:latin typeface="TT Hoves"/>
                <a:ea typeface="TT Hoves"/>
                <a:cs typeface="TT Hoves"/>
                <a:sym typeface="TT Hoves"/>
              </a:rPr>
              <a:t> </a:t>
            </a:r>
            <a:r>
              <a:rPr lang="en-US" sz="1999" spc="31" strike="noStrike" u="none">
                <a:solidFill>
                  <a:srgbClr val="EFEFEF"/>
                </a:solidFill>
                <a:latin typeface="TT Hoves"/>
                <a:ea typeface="TT Hoves"/>
                <a:cs typeface="TT Hoves"/>
                <a:sym typeface="TT Hoves"/>
              </a:rPr>
              <a:t>mengg</a:t>
            </a:r>
            <a:r>
              <a:rPr lang="en-US" sz="1999" spc="31" strike="noStrike" u="none">
                <a:solidFill>
                  <a:srgbClr val="EFEFEF"/>
                </a:solidFill>
                <a:latin typeface="TT Hoves"/>
                <a:ea typeface="TT Hoves"/>
                <a:cs typeface="TT Hoves"/>
                <a:sym typeface="TT Hoves"/>
              </a:rPr>
              <a:t>u</a:t>
            </a:r>
            <a:r>
              <a:rPr lang="en-US" sz="1999" spc="31" strike="noStrike" u="none">
                <a:solidFill>
                  <a:srgbClr val="EFEFEF"/>
                </a:solidFill>
                <a:latin typeface="TT Hoves"/>
                <a:ea typeface="TT Hoves"/>
                <a:cs typeface="TT Hoves"/>
                <a:sym typeface="TT Hoves"/>
              </a:rPr>
              <a:t>naka</a:t>
            </a:r>
            <a:r>
              <a:rPr lang="en-US" sz="1999" spc="31" strike="noStrike" u="none">
                <a:solidFill>
                  <a:srgbClr val="EFEFEF"/>
                </a:solidFill>
                <a:latin typeface="TT Hoves"/>
                <a:ea typeface="TT Hoves"/>
                <a:cs typeface="TT Hoves"/>
                <a:sym typeface="TT Hoves"/>
              </a:rPr>
              <a:t>n Python.</a:t>
            </a:r>
          </a:p>
          <a:p>
            <a:pPr algn="just" marL="431799" indent="-215899" lvl="1">
              <a:lnSpc>
                <a:spcPts val="2699"/>
              </a:lnSpc>
              <a:spcBef>
                <a:spcPct val="0"/>
              </a:spcBef>
              <a:buFont typeface="Arial"/>
              <a:buChar char="•"/>
            </a:pPr>
            <a:r>
              <a:rPr lang="en-US" sz="1999" spc="31" strike="noStrike" u="none">
                <a:solidFill>
                  <a:srgbClr val="EFEFEF"/>
                </a:solidFill>
                <a:latin typeface="TT Hoves"/>
                <a:ea typeface="TT Hoves"/>
                <a:cs typeface="TT Hoves"/>
                <a:sym typeface="TT Hoves"/>
              </a:rPr>
              <a:t>M</a:t>
            </a:r>
            <a:r>
              <a:rPr lang="en-US" sz="1999" spc="31" strike="noStrike" u="none">
                <a:solidFill>
                  <a:srgbClr val="EFEFEF"/>
                </a:solidFill>
                <a:latin typeface="TT Hoves"/>
                <a:ea typeface="TT Hoves"/>
                <a:cs typeface="TT Hoves"/>
                <a:sym typeface="TT Hoves"/>
              </a:rPr>
              <a:t>enguasai t</a:t>
            </a:r>
            <a:r>
              <a:rPr lang="en-US" sz="1999" spc="31" strike="noStrike" u="none">
                <a:solidFill>
                  <a:srgbClr val="EFEFEF"/>
                </a:solidFill>
                <a:latin typeface="TT Hoves"/>
                <a:ea typeface="TT Hoves"/>
                <a:cs typeface="TT Hoves"/>
                <a:sym typeface="TT Hoves"/>
              </a:rPr>
              <a:t>eknik</a:t>
            </a:r>
            <a:r>
              <a:rPr lang="en-US" sz="1999" spc="31" strike="noStrike" u="none">
                <a:solidFill>
                  <a:srgbClr val="EFEFEF"/>
                </a:solidFill>
                <a:latin typeface="TT Hoves"/>
                <a:ea typeface="TT Hoves"/>
                <a:cs typeface="TT Hoves"/>
                <a:sym typeface="TT Hoves"/>
              </a:rPr>
              <a:t> manipulasi data menggu</a:t>
            </a:r>
            <a:r>
              <a:rPr lang="en-US" sz="1999" spc="31" strike="noStrike" u="none">
                <a:solidFill>
                  <a:srgbClr val="EFEFEF"/>
                </a:solidFill>
                <a:latin typeface="TT Hoves"/>
                <a:ea typeface="TT Hoves"/>
                <a:cs typeface="TT Hoves"/>
                <a:sym typeface="TT Hoves"/>
              </a:rPr>
              <a:t>naka</a:t>
            </a:r>
            <a:r>
              <a:rPr lang="en-US" sz="1999" spc="31" strike="noStrike" u="none">
                <a:solidFill>
                  <a:srgbClr val="EFEFEF"/>
                </a:solidFill>
                <a:latin typeface="TT Hoves"/>
                <a:ea typeface="TT Hoves"/>
                <a:cs typeface="TT Hoves"/>
                <a:sym typeface="TT Hoves"/>
              </a:rPr>
              <a:t>n Pandas </a:t>
            </a:r>
            <a:r>
              <a:rPr lang="en-US" sz="1999" spc="31" strike="noStrike" u="none">
                <a:solidFill>
                  <a:srgbClr val="EFEFEF"/>
                </a:solidFill>
                <a:latin typeface="TT Hoves"/>
                <a:ea typeface="TT Hoves"/>
                <a:cs typeface="TT Hoves"/>
                <a:sym typeface="TT Hoves"/>
              </a:rPr>
              <a:t>d</a:t>
            </a:r>
            <a:r>
              <a:rPr lang="en-US" sz="1999" spc="31" strike="noStrike" u="none">
                <a:solidFill>
                  <a:srgbClr val="EFEFEF"/>
                </a:solidFill>
                <a:latin typeface="TT Hoves"/>
                <a:ea typeface="TT Hoves"/>
                <a:cs typeface="TT Hoves"/>
                <a:sym typeface="TT Hoves"/>
              </a:rPr>
              <a:t>an SQL</a:t>
            </a:r>
            <a:r>
              <a:rPr lang="en-US" sz="1999" spc="31" strike="noStrike" u="none">
                <a:solidFill>
                  <a:srgbClr val="EFEFEF"/>
                </a:solidFill>
                <a:latin typeface="TT Hoves"/>
                <a:ea typeface="TT Hoves"/>
                <a:cs typeface="TT Hoves"/>
                <a:sym typeface="TT Hoves"/>
              </a:rPr>
              <a:t>.</a:t>
            </a:r>
          </a:p>
          <a:p>
            <a:pPr algn="just" marL="0" indent="0" lvl="0">
              <a:lnSpc>
                <a:spcPts val="2699"/>
              </a:lnSpc>
              <a:spcBef>
                <a:spcPct val="0"/>
              </a:spcBef>
            </a:pPr>
          </a:p>
        </p:txBody>
      </p:sp>
      <p:sp>
        <p:nvSpPr>
          <p:cNvPr name="TextBox 21" id="21"/>
          <p:cNvSpPr txBox="true"/>
          <p:nvPr/>
        </p:nvSpPr>
        <p:spPr>
          <a:xfrm rot="0">
            <a:off x="-182048" y="1858610"/>
            <a:ext cx="7639050" cy="1327705"/>
          </a:xfrm>
          <a:prstGeom prst="rect">
            <a:avLst/>
          </a:prstGeom>
        </p:spPr>
        <p:txBody>
          <a:bodyPr anchor="t" rtlCol="false" tIns="0" lIns="0" bIns="0" rIns="0">
            <a:spAutoFit/>
          </a:bodyPr>
          <a:lstStyle/>
          <a:p>
            <a:pPr algn="ctr">
              <a:lnSpc>
                <a:spcPts val="10180"/>
              </a:lnSpc>
            </a:pPr>
            <a:r>
              <a:rPr lang="en-US" b="true" sz="9695" spc="-475">
                <a:solidFill>
                  <a:srgbClr val="FFFFFF"/>
                </a:solidFill>
                <a:latin typeface="TT Hoves Bold"/>
                <a:ea typeface="TT Hoves Bold"/>
                <a:cs typeface="TT Hoves Bold"/>
                <a:sym typeface="TT Hoves Bold"/>
              </a:rPr>
              <a:t>Core Skill</a:t>
            </a:r>
          </a:p>
        </p:txBody>
      </p:sp>
      <p:sp>
        <p:nvSpPr>
          <p:cNvPr name="TextBox 22" id="22"/>
          <p:cNvSpPr txBox="true"/>
          <p:nvPr/>
        </p:nvSpPr>
        <p:spPr>
          <a:xfrm rot="0">
            <a:off x="11592102" y="6852501"/>
            <a:ext cx="4758934" cy="2324100"/>
          </a:xfrm>
          <a:prstGeom prst="rect">
            <a:avLst/>
          </a:prstGeom>
        </p:spPr>
        <p:txBody>
          <a:bodyPr anchor="t" rtlCol="false" tIns="0" lIns="0" bIns="0" rIns="0">
            <a:spAutoFit/>
          </a:bodyPr>
          <a:lstStyle/>
          <a:p>
            <a:pPr algn="just" marL="431799" indent="-215899" lvl="1">
              <a:lnSpc>
                <a:spcPts val="2699"/>
              </a:lnSpc>
              <a:spcBef>
                <a:spcPct val="0"/>
              </a:spcBef>
              <a:buFont typeface="Arial"/>
              <a:buChar char="•"/>
            </a:pPr>
            <a:r>
              <a:rPr lang="en-US" sz="1999" spc="31">
                <a:solidFill>
                  <a:srgbClr val="EFEFEF"/>
                </a:solidFill>
                <a:latin typeface="TT Hoves"/>
                <a:ea typeface="TT Hoves"/>
                <a:cs typeface="TT Hoves"/>
                <a:sym typeface="TT Hoves"/>
              </a:rPr>
              <a:t>T</a:t>
            </a:r>
            <a:r>
              <a:rPr lang="en-US" sz="1999" spc="31" strike="noStrike" u="none">
                <a:solidFill>
                  <a:srgbClr val="EFEFEF"/>
                </a:solidFill>
                <a:latin typeface="TT Hoves"/>
                <a:ea typeface="TT Hoves"/>
                <a:cs typeface="TT Hoves"/>
                <a:sym typeface="TT Hoves"/>
              </a:rPr>
              <a:t>erampil memb</a:t>
            </a:r>
            <a:r>
              <a:rPr lang="en-US" sz="1999" spc="31" strike="noStrike" u="none">
                <a:solidFill>
                  <a:srgbClr val="EFEFEF"/>
                </a:solidFill>
                <a:latin typeface="TT Hoves"/>
                <a:ea typeface="TT Hoves"/>
                <a:cs typeface="TT Hoves"/>
                <a:sym typeface="TT Hoves"/>
              </a:rPr>
              <a:t>a</a:t>
            </a:r>
            <a:r>
              <a:rPr lang="en-US" sz="1999" spc="31" strike="noStrike" u="none">
                <a:solidFill>
                  <a:srgbClr val="EFEFEF"/>
                </a:solidFill>
                <a:latin typeface="TT Hoves"/>
                <a:ea typeface="TT Hoves"/>
                <a:cs typeface="TT Hoves"/>
                <a:sym typeface="TT Hoves"/>
              </a:rPr>
              <a:t>ngun model predi</a:t>
            </a:r>
            <a:r>
              <a:rPr lang="en-US" sz="1999" spc="31" strike="noStrike" u="none">
                <a:solidFill>
                  <a:srgbClr val="EFEFEF"/>
                </a:solidFill>
                <a:latin typeface="TT Hoves"/>
                <a:ea typeface="TT Hoves"/>
                <a:cs typeface="TT Hoves"/>
                <a:sym typeface="TT Hoves"/>
              </a:rPr>
              <a:t>k</a:t>
            </a:r>
            <a:r>
              <a:rPr lang="en-US" sz="1999" spc="31" strike="noStrike" u="none">
                <a:solidFill>
                  <a:srgbClr val="EFEFEF"/>
                </a:solidFill>
                <a:latin typeface="TT Hoves"/>
                <a:ea typeface="TT Hoves"/>
                <a:cs typeface="TT Hoves"/>
                <a:sym typeface="TT Hoves"/>
              </a:rPr>
              <a:t>ti</a:t>
            </a:r>
            <a:r>
              <a:rPr lang="en-US" sz="1999" spc="31" strike="noStrike" u="none">
                <a:solidFill>
                  <a:srgbClr val="EFEFEF"/>
                </a:solidFill>
                <a:latin typeface="TT Hoves"/>
                <a:ea typeface="TT Hoves"/>
                <a:cs typeface="TT Hoves"/>
                <a:sym typeface="TT Hoves"/>
              </a:rPr>
              <a:t>f</a:t>
            </a:r>
            <a:r>
              <a:rPr lang="en-US" sz="1999" spc="31" strike="noStrike" u="none">
                <a:solidFill>
                  <a:srgbClr val="EFEFEF"/>
                </a:solidFill>
                <a:latin typeface="TT Hoves"/>
                <a:ea typeface="TT Hoves"/>
                <a:cs typeface="TT Hoves"/>
                <a:sym typeface="TT Hoves"/>
              </a:rPr>
              <a:t> de</a:t>
            </a:r>
            <a:r>
              <a:rPr lang="en-US" sz="1999" spc="31" strike="noStrike" u="none">
                <a:solidFill>
                  <a:srgbClr val="EFEFEF"/>
                </a:solidFill>
                <a:latin typeface="TT Hoves"/>
                <a:ea typeface="TT Hoves"/>
                <a:cs typeface="TT Hoves"/>
                <a:sym typeface="TT Hoves"/>
              </a:rPr>
              <a:t>ngan</a:t>
            </a:r>
            <a:r>
              <a:rPr lang="en-US" sz="1999" spc="31" strike="noStrike" u="none">
                <a:solidFill>
                  <a:srgbClr val="EFEFEF"/>
                </a:solidFill>
                <a:latin typeface="TT Hoves"/>
                <a:ea typeface="TT Hoves"/>
                <a:cs typeface="TT Hoves"/>
                <a:sym typeface="TT Hoves"/>
              </a:rPr>
              <a:t> </a:t>
            </a:r>
            <a:r>
              <a:rPr lang="en-US" sz="1999" spc="31" strike="noStrike" u="none">
                <a:solidFill>
                  <a:srgbClr val="EFEFEF"/>
                </a:solidFill>
                <a:latin typeface="TT Hoves"/>
                <a:ea typeface="TT Hoves"/>
                <a:cs typeface="TT Hoves"/>
                <a:sym typeface="TT Hoves"/>
              </a:rPr>
              <a:t>tek</a:t>
            </a:r>
            <a:r>
              <a:rPr lang="en-US" sz="1999" spc="31" strike="noStrike" u="none">
                <a:solidFill>
                  <a:srgbClr val="EFEFEF"/>
                </a:solidFill>
                <a:latin typeface="TT Hoves"/>
                <a:ea typeface="TT Hoves"/>
                <a:cs typeface="TT Hoves"/>
                <a:sym typeface="TT Hoves"/>
              </a:rPr>
              <a:t>nik Machine Learning seperti regresi, Random Forest, dan XGBoost.</a:t>
            </a:r>
          </a:p>
          <a:p>
            <a:pPr algn="just" marL="431799" indent="-215899" lvl="1">
              <a:lnSpc>
                <a:spcPts val="2699"/>
              </a:lnSpc>
              <a:spcBef>
                <a:spcPct val="0"/>
              </a:spcBef>
              <a:buFont typeface="Arial"/>
              <a:buChar char="•"/>
            </a:pPr>
            <a:r>
              <a:rPr lang="en-US" sz="1999" spc="31" strike="noStrike" u="none">
                <a:solidFill>
                  <a:srgbClr val="EFEFEF"/>
                </a:solidFill>
                <a:latin typeface="TT Hoves"/>
                <a:ea typeface="TT Hoves"/>
                <a:cs typeface="TT Hoves"/>
                <a:sym typeface="TT Hoves"/>
              </a:rPr>
              <a:t>Terb</a:t>
            </a:r>
            <a:r>
              <a:rPr lang="en-US" sz="1999" spc="31" strike="noStrike" u="none">
                <a:solidFill>
                  <a:srgbClr val="EFEFEF"/>
                </a:solidFill>
                <a:latin typeface="TT Hoves"/>
                <a:ea typeface="TT Hoves"/>
                <a:cs typeface="TT Hoves"/>
                <a:sym typeface="TT Hoves"/>
              </a:rPr>
              <a:t>ia</a:t>
            </a:r>
            <a:r>
              <a:rPr lang="en-US" sz="1999" spc="31" strike="noStrike" u="none">
                <a:solidFill>
                  <a:srgbClr val="EFEFEF"/>
                </a:solidFill>
                <a:latin typeface="TT Hoves"/>
                <a:ea typeface="TT Hoves"/>
                <a:cs typeface="TT Hoves"/>
                <a:sym typeface="TT Hoves"/>
              </a:rPr>
              <a:t>sa</a:t>
            </a:r>
            <a:r>
              <a:rPr lang="en-US" sz="1999" spc="31" strike="noStrike" u="none">
                <a:solidFill>
                  <a:srgbClr val="EFEFEF"/>
                </a:solidFill>
                <a:latin typeface="TT Hoves"/>
                <a:ea typeface="TT Hoves"/>
                <a:cs typeface="TT Hoves"/>
                <a:sym typeface="TT Hoves"/>
              </a:rPr>
              <a:t> menangani data </a:t>
            </a:r>
            <a:r>
              <a:rPr lang="en-US" sz="1999" spc="31" strike="noStrike" u="none">
                <a:solidFill>
                  <a:srgbClr val="EFEFEF"/>
                </a:solidFill>
                <a:latin typeface="TT Hoves"/>
                <a:ea typeface="TT Hoves"/>
                <a:cs typeface="TT Hoves"/>
                <a:sym typeface="TT Hoves"/>
              </a:rPr>
              <a:t>y</a:t>
            </a:r>
            <a:r>
              <a:rPr lang="en-US" sz="1999" spc="31" strike="noStrike" u="none">
                <a:solidFill>
                  <a:srgbClr val="EFEFEF"/>
                </a:solidFill>
                <a:latin typeface="TT Hoves"/>
                <a:ea typeface="TT Hoves"/>
                <a:cs typeface="TT Hoves"/>
                <a:sym typeface="TT Hoves"/>
              </a:rPr>
              <a:t>ang tidak seimbang se</a:t>
            </a:r>
            <a:r>
              <a:rPr lang="en-US" sz="1999" spc="31" strike="noStrike" u="none">
                <a:solidFill>
                  <a:srgbClr val="EFEFEF"/>
                </a:solidFill>
                <a:latin typeface="TT Hoves"/>
                <a:ea typeface="TT Hoves"/>
                <a:cs typeface="TT Hoves"/>
                <a:sym typeface="TT Hoves"/>
              </a:rPr>
              <a:t>r</a:t>
            </a:r>
            <a:r>
              <a:rPr lang="en-US" sz="1999" spc="31" strike="noStrike" u="none">
                <a:solidFill>
                  <a:srgbClr val="EFEFEF"/>
                </a:solidFill>
                <a:latin typeface="TT Hoves"/>
                <a:ea typeface="TT Hoves"/>
                <a:cs typeface="TT Hoves"/>
                <a:sym typeface="TT Hoves"/>
              </a:rPr>
              <a:t>ta melakukan strategi optimasi model.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334E"/>
        </a:solidFill>
      </p:bgPr>
    </p:bg>
    <p:spTree>
      <p:nvGrpSpPr>
        <p:cNvPr id="1" name=""/>
        <p:cNvGrpSpPr/>
        <p:nvPr/>
      </p:nvGrpSpPr>
      <p:grpSpPr>
        <a:xfrm>
          <a:off x="0" y="0"/>
          <a:ext cx="0" cy="0"/>
          <a:chOff x="0" y="0"/>
          <a:chExt cx="0" cy="0"/>
        </a:xfrm>
      </p:grpSpPr>
      <p:sp>
        <p:nvSpPr>
          <p:cNvPr name="Freeform 2" id="2"/>
          <p:cNvSpPr/>
          <p:nvPr/>
        </p:nvSpPr>
        <p:spPr>
          <a:xfrm flipH="false" flipV="false" rot="0">
            <a:off x="16719766" y="1028700"/>
            <a:ext cx="539534" cy="539534"/>
          </a:xfrm>
          <a:custGeom>
            <a:avLst/>
            <a:gdLst/>
            <a:ahLst/>
            <a:cxnLst/>
            <a:rect r="r" b="b" t="t" l="l"/>
            <a:pathLst>
              <a:path h="539534" w="539534">
                <a:moveTo>
                  <a:pt x="0" y="0"/>
                </a:moveTo>
                <a:lnTo>
                  <a:pt x="539534" y="0"/>
                </a:lnTo>
                <a:lnTo>
                  <a:pt x="539534" y="539534"/>
                </a:lnTo>
                <a:lnTo>
                  <a:pt x="0" y="539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657884" y="9380220"/>
            <a:ext cx="2820810" cy="306705"/>
          </a:xfrm>
          <a:prstGeom prst="rect">
            <a:avLst/>
          </a:prstGeom>
        </p:spPr>
        <p:txBody>
          <a:bodyPr anchor="t" rtlCol="false" tIns="0" lIns="0" bIns="0" rIns="0">
            <a:spAutoFit/>
          </a:bodyPr>
          <a:lstStyle/>
          <a:p>
            <a:pPr algn="r">
              <a:lnSpc>
                <a:spcPts val="2520"/>
              </a:lnSpc>
            </a:pPr>
            <a:r>
              <a:rPr lang="en-US" sz="1800" u="sng">
                <a:solidFill>
                  <a:srgbClr val="FFFFFF"/>
                </a:solidFill>
                <a:latin typeface="Be Vietnam"/>
                <a:ea typeface="Be Vietnam"/>
                <a:cs typeface="Be Vietnam"/>
                <a:sym typeface="Be Vietnam"/>
                <a:hlinkClick r:id="rId4" action="ppaction://hlinksldjump"/>
              </a:rPr>
              <a:t>Back to agenda page</a:t>
            </a:r>
          </a:p>
        </p:txBody>
      </p:sp>
      <p:sp>
        <p:nvSpPr>
          <p:cNvPr name="Freeform 4" id="4"/>
          <p:cNvSpPr/>
          <p:nvPr/>
        </p:nvSpPr>
        <p:spPr>
          <a:xfrm flipH="false" flipV="false" rot="0">
            <a:off x="85424" y="4604416"/>
            <a:ext cx="5846231" cy="5682584"/>
          </a:xfrm>
          <a:custGeom>
            <a:avLst/>
            <a:gdLst/>
            <a:ahLst/>
            <a:cxnLst/>
            <a:rect r="r" b="b" t="t" l="l"/>
            <a:pathLst>
              <a:path h="5682584" w="5846231">
                <a:moveTo>
                  <a:pt x="0" y="0"/>
                </a:moveTo>
                <a:lnTo>
                  <a:pt x="5846231" y="0"/>
                </a:lnTo>
                <a:lnTo>
                  <a:pt x="5846231" y="5682584"/>
                </a:lnTo>
                <a:lnTo>
                  <a:pt x="0" y="5682584"/>
                </a:lnTo>
                <a:lnTo>
                  <a:pt x="0" y="0"/>
                </a:lnTo>
                <a:close/>
              </a:path>
            </a:pathLst>
          </a:custGeom>
          <a:blipFill>
            <a:blip r:embed="rId5">
              <a:alphaModFix amt="52000"/>
            </a:blip>
            <a:stretch>
              <a:fillRect l="0" t="0" r="0" b="-9933"/>
            </a:stretch>
          </a:blipFill>
          <a:ln cap="sq">
            <a:noFill/>
            <a:prstDash val="solid"/>
            <a:miter/>
          </a:ln>
        </p:spPr>
      </p:sp>
      <p:sp>
        <p:nvSpPr>
          <p:cNvPr name="Freeform 5" id="5"/>
          <p:cNvSpPr/>
          <p:nvPr/>
        </p:nvSpPr>
        <p:spPr>
          <a:xfrm flipH="false" flipV="false" rot="0">
            <a:off x="6186397" y="4604416"/>
            <a:ext cx="5846231" cy="5682584"/>
          </a:xfrm>
          <a:custGeom>
            <a:avLst/>
            <a:gdLst/>
            <a:ahLst/>
            <a:cxnLst/>
            <a:rect r="r" b="b" t="t" l="l"/>
            <a:pathLst>
              <a:path h="5682584" w="5846231">
                <a:moveTo>
                  <a:pt x="0" y="0"/>
                </a:moveTo>
                <a:lnTo>
                  <a:pt x="5846231" y="0"/>
                </a:lnTo>
                <a:lnTo>
                  <a:pt x="5846231" y="5682584"/>
                </a:lnTo>
                <a:lnTo>
                  <a:pt x="0" y="5682584"/>
                </a:lnTo>
                <a:lnTo>
                  <a:pt x="0" y="0"/>
                </a:lnTo>
                <a:close/>
              </a:path>
            </a:pathLst>
          </a:custGeom>
          <a:blipFill>
            <a:blip r:embed="rId6">
              <a:alphaModFix amt="52000"/>
            </a:blip>
            <a:stretch>
              <a:fillRect l="0" t="0" r="0" b="-9933"/>
            </a:stretch>
          </a:blipFill>
          <a:ln cap="sq">
            <a:noFill/>
            <a:prstDash val="solid"/>
            <a:miter/>
          </a:ln>
        </p:spPr>
      </p:sp>
      <p:sp>
        <p:nvSpPr>
          <p:cNvPr name="Freeform 6" id="6"/>
          <p:cNvSpPr/>
          <p:nvPr/>
        </p:nvSpPr>
        <p:spPr>
          <a:xfrm flipH="false" flipV="false" rot="0">
            <a:off x="7604910" y="6107088"/>
            <a:ext cx="2863257" cy="1159903"/>
          </a:xfrm>
          <a:custGeom>
            <a:avLst/>
            <a:gdLst/>
            <a:ahLst/>
            <a:cxnLst/>
            <a:rect r="r" b="b" t="t" l="l"/>
            <a:pathLst>
              <a:path h="1159903" w="2863257">
                <a:moveTo>
                  <a:pt x="0" y="0"/>
                </a:moveTo>
                <a:lnTo>
                  <a:pt x="2863257" y="0"/>
                </a:lnTo>
                <a:lnTo>
                  <a:pt x="2863257" y="1159903"/>
                </a:lnTo>
                <a:lnTo>
                  <a:pt x="0" y="1159903"/>
                </a:lnTo>
                <a:lnTo>
                  <a:pt x="0" y="0"/>
                </a:lnTo>
                <a:close/>
              </a:path>
            </a:pathLst>
          </a:custGeom>
          <a:blipFill>
            <a:blip r:embed="rId7"/>
            <a:stretch>
              <a:fillRect l="0" t="0" r="0" b="0"/>
            </a:stretch>
          </a:blipFill>
        </p:spPr>
      </p:sp>
      <p:sp>
        <p:nvSpPr>
          <p:cNvPr name="Freeform 7" id="7"/>
          <p:cNvSpPr/>
          <p:nvPr/>
        </p:nvSpPr>
        <p:spPr>
          <a:xfrm flipH="false" flipV="false" rot="0">
            <a:off x="12280278" y="4604416"/>
            <a:ext cx="5846231" cy="5682584"/>
          </a:xfrm>
          <a:custGeom>
            <a:avLst/>
            <a:gdLst/>
            <a:ahLst/>
            <a:cxnLst/>
            <a:rect r="r" b="b" t="t" l="l"/>
            <a:pathLst>
              <a:path h="5682584" w="5846231">
                <a:moveTo>
                  <a:pt x="0" y="0"/>
                </a:moveTo>
                <a:lnTo>
                  <a:pt x="5846232" y="0"/>
                </a:lnTo>
                <a:lnTo>
                  <a:pt x="5846232" y="5682584"/>
                </a:lnTo>
                <a:lnTo>
                  <a:pt x="0" y="5682584"/>
                </a:lnTo>
                <a:lnTo>
                  <a:pt x="0" y="0"/>
                </a:lnTo>
                <a:close/>
              </a:path>
            </a:pathLst>
          </a:custGeom>
          <a:blipFill>
            <a:blip r:embed="rId6">
              <a:alphaModFix amt="52000"/>
            </a:blip>
            <a:stretch>
              <a:fillRect l="0" t="0" r="0" b="-9933"/>
            </a:stretch>
          </a:blipFill>
          <a:ln cap="sq">
            <a:noFill/>
            <a:prstDash val="solid"/>
            <a:miter/>
          </a:ln>
        </p:spPr>
      </p:sp>
      <p:sp>
        <p:nvSpPr>
          <p:cNvPr name="Freeform 8" id="8"/>
          <p:cNvSpPr/>
          <p:nvPr/>
        </p:nvSpPr>
        <p:spPr>
          <a:xfrm flipH="false" flipV="false" rot="0">
            <a:off x="13212324" y="6632465"/>
            <a:ext cx="1484713" cy="1579759"/>
          </a:xfrm>
          <a:custGeom>
            <a:avLst/>
            <a:gdLst/>
            <a:ahLst/>
            <a:cxnLst/>
            <a:rect r="r" b="b" t="t" l="l"/>
            <a:pathLst>
              <a:path h="1579759" w="1484713">
                <a:moveTo>
                  <a:pt x="0" y="0"/>
                </a:moveTo>
                <a:lnTo>
                  <a:pt x="1484712" y="0"/>
                </a:lnTo>
                <a:lnTo>
                  <a:pt x="1484712" y="1579760"/>
                </a:lnTo>
                <a:lnTo>
                  <a:pt x="0" y="1579760"/>
                </a:lnTo>
                <a:lnTo>
                  <a:pt x="0" y="0"/>
                </a:lnTo>
                <a:close/>
              </a:path>
            </a:pathLst>
          </a:custGeom>
          <a:blipFill>
            <a:blip r:embed="rId8"/>
            <a:stretch>
              <a:fillRect l="-25802" t="0" r="-21977" b="0"/>
            </a:stretch>
          </a:blipFill>
        </p:spPr>
      </p:sp>
      <p:sp>
        <p:nvSpPr>
          <p:cNvPr name="TextBox 9" id="9"/>
          <p:cNvSpPr txBox="true"/>
          <p:nvPr/>
        </p:nvSpPr>
        <p:spPr>
          <a:xfrm rot="0">
            <a:off x="7623960" y="69353"/>
            <a:ext cx="3355164" cy="1135380"/>
          </a:xfrm>
          <a:prstGeom prst="rect">
            <a:avLst/>
          </a:prstGeom>
        </p:spPr>
        <p:txBody>
          <a:bodyPr anchor="t" rtlCol="false" tIns="0" lIns="0" bIns="0" rIns="0">
            <a:spAutoFit/>
          </a:bodyPr>
          <a:lstStyle/>
          <a:p>
            <a:pPr algn="l">
              <a:lnSpc>
                <a:spcPts val="7200"/>
              </a:lnSpc>
            </a:pPr>
            <a:r>
              <a:rPr lang="en-US" sz="7200" b="true">
                <a:solidFill>
                  <a:srgbClr val="000000"/>
                </a:solidFill>
                <a:latin typeface="Heading Now 71-78 Bold"/>
                <a:ea typeface="Heading Now 71-78 Bold"/>
                <a:cs typeface="Heading Now 71-78 Bold"/>
                <a:sym typeface="Heading Now 71-78 Bold"/>
              </a:rPr>
              <a:t>TOOLS</a:t>
            </a:r>
          </a:p>
        </p:txBody>
      </p:sp>
      <p:sp>
        <p:nvSpPr>
          <p:cNvPr name="TextBox 10" id="10"/>
          <p:cNvSpPr txBox="true"/>
          <p:nvPr/>
        </p:nvSpPr>
        <p:spPr>
          <a:xfrm rot="0">
            <a:off x="7747313" y="4891753"/>
            <a:ext cx="2717308" cy="552450"/>
          </a:xfrm>
          <a:prstGeom prst="rect">
            <a:avLst/>
          </a:prstGeom>
        </p:spPr>
        <p:txBody>
          <a:bodyPr anchor="t" rtlCol="false" tIns="0" lIns="0" bIns="0" rIns="0">
            <a:spAutoFit/>
          </a:bodyPr>
          <a:lstStyle/>
          <a:p>
            <a:pPr algn="ctr">
              <a:lnSpc>
                <a:spcPts val="4464"/>
              </a:lnSpc>
            </a:pPr>
            <a:r>
              <a:rPr lang="en-US" sz="3720">
                <a:solidFill>
                  <a:srgbClr val="F9F9F9"/>
                </a:solidFill>
                <a:latin typeface="TT Norms"/>
                <a:ea typeface="TT Norms"/>
                <a:cs typeface="TT Norms"/>
                <a:sym typeface="TT Norms"/>
              </a:rPr>
              <a:t>Framework</a:t>
            </a:r>
          </a:p>
        </p:txBody>
      </p:sp>
      <p:sp>
        <p:nvSpPr>
          <p:cNvPr name="TextBox 11" id="11"/>
          <p:cNvSpPr txBox="true"/>
          <p:nvPr/>
        </p:nvSpPr>
        <p:spPr>
          <a:xfrm rot="0">
            <a:off x="1028700" y="4896515"/>
            <a:ext cx="3897755" cy="533400"/>
          </a:xfrm>
          <a:prstGeom prst="rect">
            <a:avLst/>
          </a:prstGeom>
        </p:spPr>
        <p:txBody>
          <a:bodyPr anchor="t" rtlCol="false" tIns="0" lIns="0" bIns="0" rIns="0">
            <a:spAutoFit/>
          </a:bodyPr>
          <a:lstStyle/>
          <a:p>
            <a:pPr algn="ctr">
              <a:lnSpc>
                <a:spcPts val="4209"/>
              </a:lnSpc>
            </a:pPr>
            <a:r>
              <a:rPr lang="en-US" sz="3507">
                <a:solidFill>
                  <a:srgbClr val="F9F9F9"/>
                </a:solidFill>
                <a:latin typeface="TT Norms"/>
                <a:ea typeface="TT Norms"/>
                <a:cs typeface="TT Norms"/>
                <a:sym typeface="TT Norms"/>
              </a:rPr>
              <a:t>Visualization</a:t>
            </a:r>
          </a:p>
        </p:txBody>
      </p:sp>
      <p:sp>
        <p:nvSpPr>
          <p:cNvPr name="Freeform 12" id="12"/>
          <p:cNvSpPr/>
          <p:nvPr/>
        </p:nvSpPr>
        <p:spPr>
          <a:xfrm flipH="false" flipV="false" rot="0">
            <a:off x="4844578" y="1252358"/>
            <a:ext cx="9234596" cy="3190133"/>
          </a:xfrm>
          <a:custGeom>
            <a:avLst/>
            <a:gdLst/>
            <a:ahLst/>
            <a:cxnLst/>
            <a:rect r="r" b="b" t="t" l="l"/>
            <a:pathLst>
              <a:path h="3190133" w="9234596">
                <a:moveTo>
                  <a:pt x="0" y="0"/>
                </a:moveTo>
                <a:lnTo>
                  <a:pt x="9234596" y="0"/>
                </a:lnTo>
                <a:lnTo>
                  <a:pt x="9234596" y="3190133"/>
                </a:lnTo>
                <a:lnTo>
                  <a:pt x="0" y="319013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6557178" y="1810139"/>
            <a:ext cx="1398125" cy="935393"/>
          </a:xfrm>
          <a:custGeom>
            <a:avLst/>
            <a:gdLst/>
            <a:ahLst/>
            <a:cxnLst/>
            <a:rect r="r" b="b" t="t" l="l"/>
            <a:pathLst>
              <a:path h="935393" w="1398125">
                <a:moveTo>
                  <a:pt x="0" y="0"/>
                </a:moveTo>
                <a:lnTo>
                  <a:pt x="1398125" y="0"/>
                </a:lnTo>
                <a:lnTo>
                  <a:pt x="1398125" y="935392"/>
                </a:lnTo>
                <a:lnTo>
                  <a:pt x="0" y="935392"/>
                </a:lnTo>
                <a:lnTo>
                  <a:pt x="0" y="0"/>
                </a:lnTo>
                <a:close/>
              </a:path>
            </a:pathLst>
          </a:custGeom>
          <a:blipFill>
            <a:blip r:embed="rId11"/>
            <a:stretch>
              <a:fillRect l="0" t="-24216" r="0" b="-25252"/>
            </a:stretch>
          </a:blipFill>
        </p:spPr>
      </p:sp>
      <p:sp>
        <p:nvSpPr>
          <p:cNvPr name="Freeform 14" id="14"/>
          <p:cNvSpPr/>
          <p:nvPr/>
        </p:nvSpPr>
        <p:spPr>
          <a:xfrm flipH="false" flipV="false" rot="0">
            <a:off x="9812294" y="1774583"/>
            <a:ext cx="1075692" cy="1095348"/>
          </a:xfrm>
          <a:custGeom>
            <a:avLst/>
            <a:gdLst/>
            <a:ahLst/>
            <a:cxnLst/>
            <a:rect r="r" b="b" t="t" l="l"/>
            <a:pathLst>
              <a:path h="1095348" w="1075692">
                <a:moveTo>
                  <a:pt x="0" y="0"/>
                </a:moveTo>
                <a:lnTo>
                  <a:pt x="1075692" y="0"/>
                </a:lnTo>
                <a:lnTo>
                  <a:pt x="1075692" y="1095348"/>
                </a:lnTo>
                <a:lnTo>
                  <a:pt x="0" y="1095348"/>
                </a:lnTo>
                <a:lnTo>
                  <a:pt x="0" y="0"/>
                </a:lnTo>
                <a:close/>
              </a:path>
            </a:pathLst>
          </a:custGeom>
          <a:blipFill>
            <a:blip r:embed="rId12"/>
            <a:stretch>
              <a:fillRect l="-48265" t="0" r="-45691" b="0"/>
            </a:stretch>
          </a:blipFill>
        </p:spPr>
      </p:sp>
      <p:sp>
        <p:nvSpPr>
          <p:cNvPr name="Freeform 15" id="15"/>
          <p:cNvSpPr/>
          <p:nvPr/>
        </p:nvSpPr>
        <p:spPr>
          <a:xfrm flipH="false" flipV="false" rot="0">
            <a:off x="8296892" y="1794121"/>
            <a:ext cx="935565" cy="951410"/>
          </a:xfrm>
          <a:custGeom>
            <a:avLst/>
            <a:gdLst/>
            <a:ahLst/>
            <a:cxnLst/>
            <a:rect r="r" b="b" t="t" l="l"/>
            <a:pathLst>
              <a:path h="951410" w="935565">
                <a:moveTo>
                  <a:pt x="0" y="0"/>
                </a:moveTo>
                <a:lnTo>
                  <a:pt x="935565" y="0"/>
                </a:lnTo>
                <a:lnTo>
                  <a:pt x="935565" y="951410"/>
                </a:lnTo>
                <a:lnTo>
                  <a:pt x="0" y="951410"/>
                </a:lnTo>
                <a:lnTo>
                  <a:pt x="0" y="0"/>
                </a:lnTo>
                <a:close/>
              </a:path>
            </a:pathLst>
          </a:custGeom>
          <a:blipFill>
            <a:blip r:embed="rId13"/>
            <a:stretch>
              <a:fillRect l="0" t="0" r="0" b="-1375"/>
            </a:stretch>
          </a:blipFill>
        </p:spPr>
      </p:sp>
      <p:sp>
        <p:nvSpPr>
          <p:cNvPr name="Freeform 16" id="16"/>
          <p:cNvSpPr/>
          <p:nvPr/>
        </p:nvSpPr>
        <p:spPr>
          <a:xfrm flipH="false" flipV="false" rot="0">
            <a:off x="11369471" y="1774583"/>
            <a:ext cx="951410" cy="951410"/>
          </a:xfrm>
          <a:custGeom>
            <a:avLst/>
            <a:gdLst/>
            <a:ahLst/>
            <a:cxnLst/>
            <a:rect r="r" b="b" t="t" l="l"/>
            <a:pathLst>
              <a:path h="951410" w="951410">
                <a:moveTo>
                  <a:pt x="0" y="0"/>
                </a:moveTo>
                <a:lnTo>
                  <a:pt x="951410" y="0"/>
                </a:lnTo>
                <a:lnTo>
                  <a:pt x="951410" y="951410"/>
                </a:lnTo>
                <a:lnTo>
                  <a:pt x="0" y="95141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false" flipV="false" rot="0">
            <a:off x="15382836" y="6974187"/>
            <a:ext cx="1914101" cy="1005386"/>
          </a:xfrm>
          <a:custGeom>
            <a:avLst/>
            <a:gdLst/>
            <a:ahLst/>
            <a:cxnLst/>
            <a:rect r="r" b="b" t="t" l="l"/>
            <a:pathLst>
              <a:path h="1005386" w="1914101">
                <a:moveTo>
                  <a:pt x="0" y="0"/>
                </a:moveTo>
                <a:lnTo>
                  <a:pt x="1914101" y="0"/>
                </a:lnTo>
                <a:lnTo>
                  <a:pt x="1914101" y="1005387"/>
                </a:lnTo>
                <a:lnTo>
                  <a:pt x="0" y="1005387"/>
                </a:lnTo>
                <a:lnTo>
                  <a:pt x="0" y="0"/>
                </a:lnTo>
                <a:close/>
              </a:path>
            </a:pathLst>
          </a:custGeom>
          <a:blipFill>
            <a:blip r:embed="rId16"/>
            <a:stretch>
              <a:fillRect l="0" t="0" r="0" b="0"/>
            </a:stretch>
          </a:blipFill>
        </p:spPr>
      </p:sp>
      <p:sp>
        <p:nvSpPr>
          <p:cNvPr name="Freeform 18" id="18"/>
          <p:cNvSpPr/>
          <p:nvPr/>
        </p:nvSpPr>
        <p:spPr>
          <a:xfrm flipH="false" flipV="false" rot="0">
            <a:off x="9256259" y="8118763"/>
            <a:ext cx="2187762" cy="1212692"/>
          </a:xfrm>
          <a:custGeom>
            <a:avLst/>
            <a:gdLst/>
            <a:ahLst/>
            <a:cxnLst/>
            <a:rect r="r" b="b" t="t" l="l"/>
            <a:pathLst>
              <a:path h="1212692" w="2187762">
                <a:moveTo>
                  <a:pt x="0" y="0"/>
                </a:moveTo>
                <a:lnTo>
                  <a:pt x="2187763" y="0"/>
                </a:lnTo>
                <a:lnTo>
                  <a:pt x="2187763" y="1212692"/>
                </a:lnTo>
                <a:lnTo>
                  <a:pt x="0" y="1212692"/>
                </a:lnTo>
                <a:lnTo>
                  <a:pt x="0" y="0"/>
                </a:lnTo>
                <a:close/>
              </a:path>
            </a:pathLst>
          </a:custGeom>
          <a:blipFill>
            <a:blip r:embed="rId17"/>
            <a:stretch>
              <a:fillRect l="0" t="0" r="0" b="0"/>
            </a:stretch>
          </a:blipFill>
        </p:spPr>
      </p:sp>
      <p:sp>
        <p:nvSpPr>
          <p:cNvPr name="Freeform 19" id="19"/>
          <p:cNvSpPr/>
          <p:nvPr/>
        </p:nvSpPr>
        <p:spPr>
          <a:xfrm flipH="false" flipV="false" rot="0">
            <a:off x="6686611" y="8108618"/>
            <a:ext cx="1610281" cy="1295226"/>
          </a:xfrm>
          <a:custGeom>
            <a:avLst/>
            <a:gdLst/>
            <a:ahLst/>
            <a:cxnLst/>
            <a:rect r="r" b="b" t="t" l="l"/>
            <a:pathLst>
              <a:path h="1295226" w="1610281">
                <a:moveTo>
                  <a:pt x="0" y="0"/>
                </a:moveTo>
                <a:lnTo>
                  <a:pt x="1610281" y="0"/>
                </a:lnTo>
                <a:lnTo>
                  <a:pt x="1610281" y="1295226"/>
                </a:lnTo>
                <a:lnTo>
                  <a:pt x="0" y="1295226"/>
                </a:lnTo>
                <a:lnTo>
                  <a:pt x="0" y="0"/>
                </a:lnTo>
                <a:close/>
              </a:path>
            </a:pathLst>
          </a:custGeom>
          <a:blipFill>
            <a:blip r:embed="rId18"/>
            <a:stretch>
              <a:fillRect l="0" t="0" r="0" b="0"/>
            </a:stretch>
          </a:blipFill>
        </p:spPr>
      </p:sp>
      <p:sp>
        <p:nvSpPr>
          <p:cNvPr name="Freeform 20" id="20"/>
          <p:cNvSpPr/>
          <p:nvPr/>
        </p:nvSpPr>
        <p:spPr>
          <a:xfrm flipH="false" flipV="false" rot="0">
            <a:off x="4903595" y="1483472"/>
            <a:ext cx="1540595" cy="1365318"/>
          </a:xfrm>
          <a:custGeom>
            <a:avLst/>
            <a:gdLst/>
            <a:ahLst/>
            <a:cxnLst/>
            <a:rect r="r" b="b" t="t" l="l"/>
            <a:pathLst>
              <a:path h="1365318" w="1540595">
                <a:moveTo>
                  <a:pt x="0" y="0"/>
                </a:moveTo>
                <a:lnTo>
                  <a:pt x="1540595" y="0"/>
                </a:lnTo>
                <a:lnTo>
                  <a:pt x="1540595" y="1365318"/>
                </a:lnTo>
                <a:lnTo>
                  <a:pt x="0" y="1365318"/>
                </a:lnTo>
                <a:lnTo>
                  <a:pt x="0" y="0"/>
                </a:lnTo>
                <a:close/>
              </a:path>
            </a:pathLst>
          </a:custGeom>
          <a:blipFill>
            <a:blip r:embed="rId19"/>
            <a:stretch>
              <a:fillRect l="0" t="0" r="0" b="0"/>
            </a:stretch>
          </a:blipFill>
        </p:spPr>
      </p:sp>
      <p:sp>
        <p:nvSpPr>
          <p:cNvPr name="Freeform 21" id="21"/>
          <p:cNvSpPr/>
          <p:nvPr/>
        </p:nvSpPr>
        <p:spPr>
          <a:xfrm flipH="false" flipV="false" rot="0">
            <a:off x="12605646" y="1671008"/>
            <a:ext cx="1213356" cy="1158559"/>
          </a:xfrm>
          <a:custGeom>
            <a:avLst/>
            <a:gdLst/>
            <a:ahLst/>
            <a:cxnLst/>
            <a:rect r="r" b="b" t="t" l="l"/>
            <a:pathLst>
              <a:path h="1158559" w="1213356">
                <a:moveTo>
                  <a:pt x="0" y="0"/>
                </a:moveTo>
                <a:lnTo>
                  <a:pt x="1213356" y="0"/>
                </a:lnTo>
                <a:lnTo>
                  <a:pt x="1213356" y="1158560"/>
                </a:lnTo>
                <a:lnTo>
                  <a:pt x="0" y="1158560"/>
                </a:lnTo>
                <a:lnTo>
                  <a:pt x="0" y="0"/>
                </a:lnTo>
                <a:close/>
              </a:path>
            </a:pathLst>
          </a:custGeom>
          <a:blipFill>
            <a:blip r:embed="rId20"/>
            <a:stretch>
              <a:fillRect l="0" t="0" r="0" b="0"/>
            </a:stretch>
          </a:blipFill>
        </p:spPr>
      </p:sp>
      <p:sp>
        <p:nvSpPr>
          <p:cNvPr name="TextBox 22" id="22"/>
          <p:cNvSpPr txBox="true"/>
          <p:nvPr/>
        </p:nvSpPr>
        <p:spPr>
          <a:xfrm rot="0">
            <a:off x="6444190" y="2951894"/>
            <a:ext cx="1605052" cy="307268"/>
          </a:xfrm>
          <a:prstGeom prst="rect">
            <a:avLst/>
          </a:prstGeom>
        </p:spPr>
        <p:txBody>
          <a:bodyPr anchor="t" rtlCol="false" tIns="0" lIns="0" bIns="0" rIns="0">
            <a:spAutoFit/>
          </a:bodyPr>
          <a:lstStyle/>
          <a:p>
            <a:pPr algn="ctr">
              <a:lnSpc>
                <a:spcPts val="2574"/>
              </a:lnSpc>
            </a:pPr>
            <a:r>
              <a:rPr lang="en-US" sz="2145">
                <a:solidFill>
                  <a:srgbClr val="000000"/>
                </a:solidFill>
                <a:latin typeface="TT Norms"/>
                <a:ea typeface="TT Norms"/>
                <a:cs typeface="TT Norms"/>
                <a:sym typeface="TT Norms"/>
              </a:rPr>
              <a:t>GColab</a:t>
            </a:r>
          </a:p>
        </p:txBody>
      </p:sp>
      <p:sp>
        <p:nvSpPr>
          <p:cNvPr name="TextBox 23" id="23"/>
          <p:cNvSpPr txBox="true"/>
          <p:nvPr/>
        </p:nvSpPr>
        <p:spPr>
          <a:xfrm rot="0">
            <a:off x="7865408" y="2963821"/>
            <a:ext cx="1775436" cy="317487"/>
          </a:xfrm>
          <a:prstGeom prst="rect">
            <a:avLst/>
          </a:prstGeom>
        </p:spPr>
        <p:txBody>
          <a:bodyPr anchor="t" rtlCol="false" tIns="0" lIns="0" bIns="0" rIns="0">
            <a:spAutoFit/>
          </a:bodyPr>
          <a:lstStyle/>
          <a:p>
            <a:pPr algn="ctr">
              <a:lnSpc>
                <a:spcPts val="2574"/>
              </a:lnSpc>
            </a:pPr>
            <a:r>
              <a:rPr lang="en-US" sz="2145">
                <a:solidFill>
                  <a:srgbClr val="000000"/>
                </a:solidFill>
                <a:latin typeface="TT Norms"/>
                <a:ea typeface="TT Norms"/>
                <a:cs typeface="TT Norms"/>
                <a:sym typeface="TT Norms"/>
              </a:rPr>
              <a:t>Postgresql</a:t>
            </a:r>
          </a:p>
        </p:txBody>
      </p:sp>
      <p:sp>
        <p:nvSpPr>
          <p:cNvPr name="TextBox 24" id="24"/>
          <p:cNvSpPr txBox="true"/>
          <p:nvPr/>
        </p:nvSpPr>
        <p:spPr>
          <a:xfrm rot="0">
            <a:off x="11059797" y="2951894"/>
            <a:ext cx="1775436" cy="317487"/>
          </a:xfrm>
          <a:prstGeom prst="rect">
            <a:avLst/>
          </a:prstGeom>
        </p:spPr>
        <p:txBody>
          <a:bodyPr anchor="t" rtlCol="false" tIns="0" lIns="0" bIns="0" rIns="0">
            <a:spAutoFit/>
          </a:bodyPr>
          <a:lstStyle/>
          <a:p>
            <a:pPr algn="ctr">
              <a:lnSpc>
                <a:spcPts val="2574"/>
              </a:lnSpc>
            </a:pPr>
            <a:r>
              <a:rPr lang="en-US" sz="2145">
                <a:solidFill>
                  <a:srgbClr val="000000"/>
                </a:solidFill>
                <a:latin typeface="TT Norms"/>
                <a:ea typeface="TT Norms"/>
                <a:cs typeface="TT Norms"/>
                <a:sym typeface="TT Norms"/>
              </a:rPr>
              <a:t>Ms.Excel</a:t>
            </a:r>
          </a:p>
        </p:txBody>
      </p:sp>
      <p:sp>
        <p:nvSpPr>
          <p:cNvPr name="TextBox 25" id="25"/>
          <p:cNvSpPr txBox="true"/>
          <p:nvPr/>
        </p:nvSpPr>
        <p:spPr>
          <a:xfrm rot="0">
            <a:off x="9384821" y="2951894"/>
            <a:ext cx="1841338" cy="317487"/>
          </a:xfrm>
          <a:prstGeom prst="rect">
            <a:avLst/>
          </a:prstGeom>
        </p:spPr>
        <p:txBody>
          <a:bodyPr anchor="t" rtlCol="false" tIns="0" lIns="0" bIns="0" rIns="0">
            <a:spAutoFit/>
          </a:bodyPr>
          <a:lstStyle/>
          <a:p>
            <a:pPr algn="ctr">
              <a:lnSpc>
                <a:spcPts val="2574"/>
              </a:lnSpc>
            </a:pPr>
            <a:r>
              <a:rPr lang="en-US" sz="2145">
                <a:solidFill>
                  <a:srgbClr val="000000"/>
                </a:solidFill>
                <a:latin typeface="TT Norms"/>
                <a:ea typeface="TT Norms"/>
                <a:cs typeface="TT Norms"/>
                <a:sym typeface="TT Norms"/>
              </a:rPr>
              <a:t>Jupyter</a:t>
            </a:r>
          </a:p>
        </p:txBody>
      </p:sp>
      <p:sp>
        <p:nvSpPr>
          <p:cNvPr name="TextBox 26" id="26"/>
          <p:cNvSpPr txBox="true"/>
          <p:nvPr/>
        </p:nvSpPr>
        <p:spPr>
          <a:xfrm rot="0">
            <a:off x="8209117" y="7433027"/>
            <a:ext cx="1654842" cy="381504"/>
          </a:xfrm>
          <a:prstGeom prst="rect">
            <a:avLst/>
          </a:prstGeom>
        </p:spPr>
        <p:txBody>
          <a:bodyPr anchor="t" rtlCol="false" tIns="0" lIns="0" bIns="0" rIns="0">
            <a:spAutoFit/>
          </a:bodyPr>
          <a:lstStyle/>
          <a:p>
            <a:pPr algn="ctr">
              <a:lnSpc>
                <a:spcPts val="3035"/>
              </a:lnSpc>
            </a:pPr>
            <a:r>
              <a:rPr lang="en-US" sz="2529">
                <a:solidFill>
                  <a:srgbClr val="000000"/>
                </a:solidFill>
                <a:latin typeface="TT Norms"/>
                <a:ea typeface="TT Norms"/>
                <a:cs typeface="TT Norms"/>
                <a:sym typeface="TT Norms"/>
              </a:rPr>
              <a:t>Pandas</a:t>
            </a:r>
          </a:p>
        </p:txBody>
      </p:sp>
      <p:sp>
        <p:nvSpPr>
          <p:cNvPr name="TextBox 27" id="27"/>
          <p:cNvSpPr txBox="true"/>
          <p:nvPr/>
        </p:nvSpPr>
        <p:spPr>
          <a:xfrm rot="0">
            <a:off x="13269824" y="4706015"/>
            <a:ext cx="3867140" cy="923925"/>
          </a:xfrm>
          <a:prstGeom prst="rect">
            <a:avLst/>
          </a:prstGeom>
        </p:spPr>
        <p:txBody>
          <a:bodyPr anchor="t" rtlCol="false" tIns="0" lIns="0" bIns="0" rIns="0">
            <a:spAutoFit/>
          </a:bodyPr>
          <a:lstStyle/>
          <a:p>
            <a:pPr algn="ctr">
              <a:lnSpc>
                <a:spcPts val="3678"/>
              </a:lnSpc>
            </a:pPr>
            <a:r>
              <a:rPr lang="en-US" sz="3065">
                <a:solidFill>
                  <a:srgbClr val="F9F9F9"/>
                </a:solidFill>
                <a:latin typeface="TT Norms"/>
                <a:ea typeface="TT Norms"/>
                <a:cs typeface="TT Norms"/>
                <a:sym typeface="TT Norms"/>
              </a:rPr>
              <a:t>Programming </a:t>
            </a:r>
          </a:p>
          <a:p>
            <a:pPr algn="ctr">
              <a:lnSpc>
                <a:spcPts val="3678"/>
              </a:lnSpc>
            </a:pPr>
            <a:r>
              <a:rPr lang="en-US" sz="3065">
                <a:solidFill>
                  <a:srgbClr val="F9F9F9"/>
                </a:solidFill>
                <a:latin typeface="TT Norms"/>
                <a:ea typeface="TT Norms"/>
                <a:cs typeface="TT Norms"/>
                <a:sym typeface="TT Norms"/>
              </a:rPr>
              <a:t>Languages</a:t>
            </a:r>
          </a:p>
        </p:txBody>
      </p:sp>
      <p:sp>
        <p:nvSpPr>
          <p:cNvPr name="TextBox 28" id="28"/>
          <p:cNvSpPr txBox="true"/>
          <p:nvPr/>
        </p:nvSpPr>
        <p:spPr>
          <a:xfrm rot="0">
            <a:off x="15357724" y="8460998"/>
            <a:ext cx="1654842" cy="381504"/>
          </a:xfrm>
          <a:prstGeom prst="rect">
            <a:avLst/>
          </a:prstGeom>
        </p:spPr>
        <p:txBody>
          <a:bodyPr anchor="t" rtlCol="false" tIns="0" lIns="0" bIns="0" rIns="0">
            <a:spAutoFit/>
          </a:bodyPr>
          <a:lstStyle/>
          <a:p>
            <a:pPr algn="ctr">
              <a:lnSpc>
                <a:spcPts val="3035"/>
              </a:lnSpc>
            </a:pPr>
            <a:r>
              <a:rPr lang="en-US" sz="2529">
                <a:solidFill>
                  <a:srgbClr val="000000"/>
                </a:solidFill>
                <a:latin typeface="TT Norms"/>
                <a:ea typeface="TT Norms"/>
                <a:cs typeface="TT Norms"/>
                <a:sym typeface="TT Norms"/>
              </a:rPr>
              <a:t>SQL</a:t>
            </a:r>
          </a:p>
        </p:txBody>
      </p:sp>
      <p:sp>
        <p:nvSpPr>
          <p:cNvPr name="TextBox 29" id="29"/>
          <p:cNvSpPr txBox="true"/>
          <p:nvPr/>
        </p:nvSpPr>
        <p:spPr>
          <a:xfrm rot="0">
            <a:off x="13042194" y="8407859"/>
            <a:ext cx="1654842" cy="381504"/>
          </a:xfrm>
          <a:prstGeom prst="rect">
            <a:avLst/>
          </a:prstGeom>
        </p:spPr>
        <p:txBody>
          <a:bodyPr anchor="t" rtlCol="false" tIns="0" lIns="0" bIns="0" rIns="0">
            <a:spAutoFit/>
          </a:bodyPr>
          <a:lstStyle/>
          <a:p>
            <a:pPr algn="ctr">
              <a:lnSpc>
                <a:spcPts val="3035"/>
              </a:lnSpc>
            </a:pPr>
            <a:r>
              <a:rPr lang="en-US" sz="2529">
                <a:solidFill>
                  <a:srgbClr val="000000"/>
                </a:solidFill>
                <a:latin typeface="TT Norms"/>
                <a:ea typeface="TT Norms"/>
                <a:cs typeface="TT Norms"/>
                <a:sym typeface="TT Norms"/>
              </a:rPr>
              <a:t>Python</a:t>
            </a:r>
          </a:p>
        </p:txBody>
      </p:sp>
      <p:grpSp>
        <p:nvGrpSpPr>
          <p:cNvPr name="Group 30" id="30"/>
          <p:cNvGrpSpPr/>
          <p:nvPr/>
        </p:nvGrpSpPr>
        <p:grpSpPr>
          <a:xfrm rot="0">
            <a:off x="759298" y="6003464"/>
            <a:ext cx="4498484" cy="3952218"/>
            <a:chOff x="0" y="0"/>
            <a:chExt cx="5997979" cy="5269625"/>
          </a:xfrm>
        </p:grpSpPr>
        <p:sp>
          <p:nvSpPr>
            <p:cNvPr name="Freeform 31" id="31"/>
            <p:cNvSpPr/>
            <p:nvPr/>
          </p:nvSpPr>
          <p:spPr>
            <a:xfrm flipH="false" flipV="false" rot="0">
              <a:off x="604512" y="0"/>
              <a:ext cx="1601944" cy="1601944"/>
            </a:xfrm>
            <a:custGeom>
              <a:avLst/>
              <a:gdLst/>
              <a:ahLst/>
              <a:cxnLst/>
              <a:rect r="r" b="b" t="t" l="l"/>
              <a:pathLst>
                <a:path h="1601944" w="1601944">
                  <a:moveTo>
                    <a:pt x="0" y="0"/>
                  </a:moveTo>
                  <a:lnTo>
                    <a:pt x="1601944" y="0"/>
                  </a:lnTo>
                  <a:lnTo>
                    <a:pt x="1601944" y="1601944"/>
                  </a:lnTo>
                  <a:lnTo>
                    <a:pt x="0" y="1601944"/>
                  </a:lnTo>
                  <a:lnTo>
                    <a:pt x="0" y="0"/>
                  </a:lnTo>
                  <a:close/>
                </a:path>
              </a:pathLst>
            </a:custGeom>
            <a:blipFill>
              <a:blip r:embed="rId21"/>
              <a:stretch>
                <a:fillRect l="0" t="0" r="0" b="0"/>
              </a:stretch>
            </a:blipFill>
          </p:spPr>
        </p:sp>
        <p:sp>
          <p:nvSpPr>
            <p:cNvPr name="Freeform 32" id="32"/>
            <p:cNvSpPr/>
            <p:nvPr/>
          </p:nvSpPr>
          <p:spPr>
            <a:xfrm flipH="false" flipV="false" rot="0">
              <a:off x="4007956" y="68660"/>
              <a:ext cx="1527258" cy="1549800"/>
            </a:xfrm>
            <a:custGeom>
              <a:avLst/>
              <a:gdLst/>
              <a:ahLst/>
              <a:cxnLst/>
              <a:rect r="r" b="b" t="t" l="l"/>
              <a:pathLst>
                <a:path h="1549800" w="1527258">
                  <a:moveTo>
                    <a:pt x="0" y="0"/>
                  </a:moveTo>
                  <a:lnTo>
                    <a:pt x="1527258" y="0"/>
                  </a:lnTo>
                  <a:lnTo>
                    <a:pt x="1527258" y="1549800"/>
                  </a:lnTo>
                  <a:lnTo>
                    <a:pt x="0" y="1549800"/>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33" id="33"/>
            <p:cNvSpPr/>
            <p:nvPr/>
          </p:nvSpPr>
          <p:spPr>
            <a:xfrm flipH="false" flipV="false" rot="0">
              <a:off x="0" y="3373834"/>
              <a:ext cx="3244818" cy="1125913"/>
            </a:xfrm>
            <a:custGeom>
              <a:avLst/>
              <a:gdLst/>
              <a:ahLst/>
              <a:cxnLst/>
              <a:rect r="r" b="b" t="t" l="l"/>
              <a:pathLst>
                <a:path h="1125913" w="3244818">
                  <a:moveTo>
                    <a:pt x="0" y="0"/>
                  </a:moveTo>
                  <a:lnTo>
                    <a:pt x="3244818" y="0"/>
                  </a:lnTo>
                  <a:lnTo>
                    <a:pt x="3244818" y="1125914"/>
                  </a:lnTo>
                  <a:lnTo>
                    <a:pt x="0" y="1125914"/>
                  </a:lnTo>
                  <a:lnTo>
                    <a:pt x="0" y="0"/>
                  </a:lnTo>
                  <a:close/>
                </a:path>
              </a:pathLst>
            </a:custGeom>
            <a:blipFill>
              <a:blip r:embed="rId24"/>
              <a:stretch>
                <a:fillRect l="-4096" t="0" r="0" b="0"/>
              </a:stretch>
            </a:blipFill>
          </p:spPr>
        </p:sp>
        <p:sp>
          <p:nvSpPr>
            <p:cNvPr name="Freeform 34" id="34"/>
            <p:cNvSpPr/>
            <p:nvPr/>
          </p:nvSpPr>
          <p:spPr>
            <a:xfrm flipH="false" flipV="false" rot="0">
              <a:off x="4036036" y="2949434"/>
              <a:ext cx="1499178" cy="1499178"/>
            </a:xfrm>
            <a:custGeom>
              <a:avLst/>
              <a:gdLst/>
              <a:ahLst/>
              <a:cxnLst/>
              <a:rect r="r" b="b" t="t" l="l"/>
              <a:pathLst>
                <a:path h="1499178" w="1499178">
                  <a:moveTo>
                    <a:pt x="0" y="0"/>
                  </a:moveTo>
                  <a:lnTo>
                    <a:pt x="1499178" y="0"/>
                  </a:lnTo>
                  <a:lnTo>
                    <a:pt x="1499178" y="1499178"/>
                  </a:lnTo>
                  <a:lnTo>
                    <a:pt x="0" y="1499178"/>
                  </a:lnTo>
                  <a:lnTo>
                    <a:pt x="0" y="0"/>
                  </a:lnTo>
                  <a:close/>
                </a:path>
              </a:pathLst>
            </a:custGeom>
            <a:blipFill>
              <a:blip r:embed="rId25"/>
              <a:stretch>
                <a:fillRect l="0" t="0" r="0" b="0"/>
              </a:stretch>
            </a:blipFill>
          </p:spPr>
        </p:sp>
        <p:sp>
          <p:nvSpPr>
            <p:cNvPr name="TextBox 35" id="35"/>
            <p:cNvSpPr txBox="true"/>
            <p:nvPr/>
          </p:nvSpPr>
          <p:spPr>
            <a:xfrm rot="0">
              <a:off x="202300" y="1805480"/>
              <a:ext cx="2206456" cy="508000"/>
            </a:xfrm>
            <a:prstGeom prst="rect">
              <a:avLst/>
            </a:prstGeom>
          </p:spPr>
          <p:txBody>
            <a:bodyPr anchor="t" rtlCol="false" tIns="0" lIns="0" bIns="0" rIns="0">
              <a:spAutoFit/>
            </a:bodyPr>
            <a:lstStyle/>
            <a:p>
              <a:pPr algn="ctr">
                <a:lnSpc>
                  <a:spcPts val="3035"/>
                </a:lnSpc>
              </a:pPr>
              <a:r>
                <a:rPr lang="en-US" sz="2529">
                  <a:solidFill>
                    <a:srgbClr val="000000"/>
                  </a:solidFill>
                  <a:latin typeface="TT Norms"/>
                  <a:ea typeface="TT Norms"/>
                  <a:cs typeface="TT Norms"/>
                  <a:sym typeface="TT Norms"/>
                </a:rPr>
                <a:t>Tableau</a:t>
              </a:r>
            </a:p>
          </p:txBody>
        </p:sp>
        <p:sp>
          <p:nvSpPr>
            <p:cNvPr name="TextBox 36" id="36"/>
            <p:cNvSpPr txBox="true"/>
            <p:nvPr/>
          </p:nvSpPr>
          <p:spPr>
            <a:xfrm rot="0">
              <a:off x="3571448" y="1956787"/>
              <a:ext cx="2206456" cy="508672"/>
            </a:xfrm>
            <a:prstGeom prst="rect">
              <a:avLst/>
            </a:prstGeom>
          </p:spPr>
          <p:txBody>
            <a:bodyPr anchor="t" rtlCol="false" tIns="0" lIns="0" bIns="0" rIns="0">
              <a:spAutoFit/>
            </a:bodyPr>
            <a:lstStyle/>
            <a:p>
              <a:pPr algn="ctr">
                <a:lnSpc>
                  <a:spcPts val="3035"/>
                </a:lnSpc>
              </a:pPr>
              <a:r>
                <a:rPr lang="en-US" sz="2529">
                  <a:solidFill>
                    <a:srgbClr val="000000"/>
                  </a:solidFill>
                  <a:latin typeface="TT Norms"/>
                  <a:ea typeface="TT Norms"/>
                  <a:cs typeface="TT Norms"/>
                  <a:sym typeface="TT Norms"/>
                </a:rPr>
                <a:t>PowerBI</a:t>
              </a:r>
            </a:p>
          </p:txBody>
        </p:sp>
        <p:sp>
          <p:nvSpPr>
            <p:cNvPr name="TextBox 37" id="37"/>
            <p:cNvSpPr txBox="true"/>
            <p:nvPr/>
          </p:nvSpPr>
          <p:spPr>
            <a:xfrm rot="0">
              <a:off x="3791523" y="4760953"/>
              <a:ext cx="2206456" cy="508672"/>
            </a:xfrm>
            <a:prstGeom prst="rect">
              <a:avLst/>
            </a:prstGeom>
          </p:spPr>
          <p:txBody>
            <a:bodyPr anchor="t" rtlCol="false" tIns="0" lIns="0" bIns="0" rIns="0">
              <a:spAutoFit/>
            </a:bodyPr>
            <a:lstStyle/>
            <a:p>
              <a:pPr algn="ctr">
                <a:lnSpc>
                  <a:spcPts val="3035"/>
                </a:lnSpc>
              </a:pPr>
              <a:r>
                <a:rPr lang="en-US" sz="2529">
                  <a:solidFill>
                    <a:srgbClr val="000000"/>
                  </a:solidFill>
                  <a:latin typeface="TT Norms"/>
                  <a:ea typeface="TT Norms"/>
                  <a:cs typeface="TT Norms"/>
                  <a:sym typeface="TT Norms"/>
                </a:rPr>
                <a:t>Seaborn</a:t>
              </a:r>
            </a:p>
          </p:txBody>
        </p:sp>
        <p:sp>
          <p:nvSpPr>
            <p:cNvPr name="TextBox 38" id="38"/>
            <p:cNvSpPr txBox="true"/>
            <p:nvPr/>
          </p:nvSpPr>
          <p:spPr>
            <a:xfrm rot="0">
              <a:off x="519181" y="4626748"/>
              <a:ext cx="2206456" cy="508672"/>
            </a:xfrm>
            <a:prstGeom prst="rect">
              <a:avLst/>
            </a:prstGeom>
          </p:spPr>
          <p:txBody>
            <a:bodyPr anchor="t" rtlCol="false" tIns="0" lIns="0" bIns="0" rIns="0">
              <a:spAutoFit/>
            </a:bodyPr>
            <a:lstStyle/>
            <a:p>
              <a:pPr algn="ctr">
                <a:lnSpc>
                  <a:spcPts val="3035"/>
                </a:lnSpc>
              </a:pPr>
              <a:r>
                <a:rPr lang="en-US" sz="2529">
                  <a:solidFill>
                    <a:srgbClr val="000000"/>
                  </a:solidFill>
                  <a:latin typeface="TT Norms"/>
                  <a:ea typeface="TT Norms"/>
                  <a:cs typeface="TT Norms"/>
                  <a:sym typeface="TT Norms"/>
                </a:rPr>
                <a:t>Matplotlib</a:t>
              </a:r>
            </a:p>
          </p:txBody>
        </p:sp>
      </p:grpSp>
      <p:sp>
        <p:nvSpPr>
          <p:cNvPr name="TextBox 39" id="39"/>
          <p:cNvSpPr txBox="true"/>
          <p:nvPr/>
        </p:nvSpPr>
        <p:spPr>
          <a:xfrm rot="0">
            <a:off x="6600964" y="9453728"/>
            <a:ext cx="1654842" cy="381504"/>
          </a:xfrm>
          <a:prstGeom prst="rect">
            <a:avLst/>
          </a:prstGeom>
        </p:spPr>
        <p:txBody>
          <a:bodyPr anchor="t" rtlCol="false" tIns="0" lIns="0" bIns="0" rIns="0">
            <a:spAutoFit/>
          </a:bodyPr>
          <a:lstStyle/>
          <a:p>
            <a:pPr algn="ctr">
              <a:lnSpc>
                <a:spcPts val="3035"/>
              </a:lnSpc>
            </a:pPr>
            <a:r>
              <a:rPr lang="en-US" sz="2529">
                <a:solidFill>
                  <a:srgbClr val="000000"/>
                </a:solidFill>
                <a:latin typeface="TT Norms"/>
                <a:ea typeface="TT Norms"/>
                <a:cs typeface="TT Norms"/>
                <a:sym typeface="TT Norms"/>
              </a:rPr>
              <a:t>NumPy</a:t>
            </a:r>
          </a:p>
        </p:txBody>
      </p:sp>
      <p:sp>
        <p:nvSpPr>
          <p:cNvPr name="TextBox 40" id="40"/>
          <p:cNvSpPr txBox="true"/>
          <p:nvPr/>
        </p:nvSpPr>
        <p:spPr>
          <a:xfrm rot="0">
            <a:off x="9522719" y="9415376"/>
            <a:ext cx="1654842" cy="381504"/>
          </a:xfrm>
          <a:prstGeom prst="rect">
            <a:avLst/>
          </a:prstGeom>
        </p:spPr>
        <p:txBody>
          <a:bodyPr anchor="t" rtlCol="false" tIns="0" lIns="0" bIns="0" rIns="0">
            <a:spAutoFit/>
          </a:bodyPr>
          <a:lstStyle/>
          <a:p>
            <a:pPr algn="ctr">
              <a:lnSpc>
                <a:spcPts val="3035"/>
              </a:lnSpc>
            </a:pPr>
            <a:r>
              <a:rPr lang="en-US" sz="2529">
                <a:solidFill>
                  <a:srgbClr val="000000"/>
                </a:solidFill>
                <a:latin typeface="TT Norms"/>
                <a:ea typeface="TT Norms"/>
                <a:cs typeface="TT Norms"/>
                <a:sym typeface="TT Norms"/>
              </a:rPr>
              <a:t>Scikit-learn</a:t>
            </a:r>
          </a:p>
        </p:txBody>
      </p:sp>
      <p:sp>
        <p:nvSpPr>
          <p:cNvPr name="TextBox 41" id="41"/>
          <p:cNvSpPr txBox="true"/>
          <p:nvPr/>
        </p:nvSpPr>
        <p:spPr>
          <a:xfrm rot="0">
            <a:off x="12320881" y="2941675"/>
            <a:ext cx="1775436" cy="317487"/>
          </a:xfrm>
          <a:prstGeom prst="rect">
            <a:avLst/>
          </a:prstGeom>
        </p:spPr>
        <p:txBody>
          <a:bodyPr anchor="t" rtlCol="false" tIns="0" lIns="0" bIns="0" rIns="0">
            <a:spAutoFit/>
          </a:bodyPr>
          <a:lstStyle/>
          <a:p>
            <a:pPr algn="ctr">
              <a:lnSpc>
                <a:spcPts val="2574"/>
              </a:lnSpc>
            </a:pPr>
            <a:r>
              <a:rPr lang="en-US" sz="2145">
                <a:solidFill>
                  <a:srgbClr val="000000"/>
                </a:solidFill>
                <a:latin typeface="TT Norms"/>
                <a:ea typeface="TT Norms"/>
                <a:cs typeface="TT Norms"/>
                <a:sym typeface="TT Norms"/>
              </a:rPr>
              <a:t>GitHub</a:t>
            </a:r>
          </a:p>
        </p:txBody>
      </p:sp>
      <p:sp>
        <p:nvSpPr>
          <p:cNvPr name="TextBox 42" id="42"/>
          <p:cNvSpPr txBox="true"/>
          <p:nvPr/>
        </p:nvSpPr>
        <p:spPr>
          <a:xfrm rot="0">
            <a:off x="4825528" y="2960828"/>
            <a:ext cx="1775436" cy="317487"/>
          </a:xfrm>
          <a:prstGeom prst="rect">
            <a:avLst/>
          </a:prstGeom>
        </p:spPr>
        <p:txBody>
          <a:bodyPr anchor="t" rtlCol="false" tIns="0" lIns="0" bIns="0" rIns="0">
            <a:spAutoFit/>
          </a:bodyPr>
          <a:lstStyle/>
          <a:p>
            <a:pPr algn="ctr">
              <a:lnSpc>
                <a:spcPts val="2574"/>
              </a:lnSpc>
            </a:pPr>
            <a:r>
              <a:rPr lang="en-US" sz="2145">
                <a:solidFill>
                  <a:srgbClr val="000000"/>
                </a:solidFill>
                <a:latin typeface="TT Norms"/>
                <a:ea typeface="TT Norms"/>
                <a:cs typeface="TT Norms"/>
                <a:sym typeface="TT Norms"/>
              </a:rPr>
              <a:t>VS Cod</a:t>
            </a:r>
            <a:r>
              <a:rPr lang="en-US" sz="2145">
                <a:solidFill>
                  <a:srgbClr val="000000"/>
                </a:solidFill>
                <a:latin typeface="TT Norms"/>
                <a:ea typeface="TT Norms"/>
                <a:cs typeface="TT Norms"/>
                <a:sym typeface="TT Norms"/>
              </a:rPr>
              <a:t>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334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3363972"/>
          </a:xfrm>
          <a:custGeom>
            <a:avLst/>
            <a:gdLst/>
            <a:ahLst/>
            <a:cxnLst/>
            <a:rect r="r" b="b" t="t" l="l"/>
            <a:pathLst>
              <a:path h="3363972" w="18288000">
                <a:moveTo>
                  <a:pt x="0" y="0"/>
                </a:moveTo>
                <a:lnTo>
                  <a:pt x="18288000" y="0"/>
                </a:lnTo>
                <a:lnTo>
                  <a:pt x="18288000" y="3363972"/>
                </a:lnTo>
                <a:lnTo>
                  <a:pt x="0" y="3363972"/>
                </a:lnTo>
                <a:lnTo>
                  <a:pt x="0" y="0"/>
                </a:lnTo>
                <a:close/>
              </a:path>
            </a:pathLst>
          </a:custGeom>
          <a:blipFill>
            <a:blip r:embed="rId2"/>
            <a:stretch>
              <a:fillRect l="0" t="-121082" r="0" b="-141119"/>
            </a:stretch>
          </a:blipFill>
        </p:spPr>
      </p:sp>
      <p:sp>
        <p:nvSpPr>
          <p:cNvPr name="Freeform 3" id="3"/>
          <p:cNvSpPr/>
          <p:nvPr/>
        </p:nvSpPr>
        <p:spPr>
          <a:xfrm flipH="false" flipV="false" rot="0">
            <a:off x="16719766" y="1028700"/>
            <a:ext cx="539534" cy="539534"/>
          </a:xfrm>
          <a:custGeom>
            <a:avLst/>
            <a:gdLst/>
            <a:ahLst/>
            <a:cxnLst/>
            <a:rect r="r" b="b" t="t" l="l"/>
            <a:pathLst>
              <a:path h="539534" w="539534">
                <a:moveTo>
                  <a:pt x="0" y="0"/>
                </a:moveTo>
                <a:lnTo>
                  <a:pt x="539534" y="0"/>
                </a:lnTo>
                <a:lnTo>
                  <a:pt x="539534" y="539534"/>
                </a:lnTo>
                <a:lnTo>
                  <a:pt x="0" y="5395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4657884" y="9380220"/>
            <a:ext cx="2820810" cy="306705"/>
          </a:xfrm>
          <a:prstGeom prst="rect">
            <a:avLst/>
          </a:prstGeom>
        </p:spPr>
        <p:txBody>
          <a:bodyPr anchor="t" rtlCol="false" tIns="0" lIns="0" bIns="0" rIns="0">
            <a:spAutoFit/>
          </a:bodyPr>
          <a:lstStyle/>
          <a:p>
            <a:pPr algn="r">
              <a:lnSpc>
                <a:spcPts val="2520"/>
              </a:lnSpc>
            </a:pPr>
            <a:r>
              <a:rPr lang="en-US" sz="1800" u="sng">
                <a:solidFill>
                  <a:srgbClr val="FFFFFF"/>
                </a:solidFill>
                <a:latin typeface="Be Vietnam"/>
                <a:ea typeface="Be Vietnam"/>
                <a:cs typeface="Be Vietnam"/>
                <a:sym typeface="Be Vietnam"/>
                <a:hlinkClick r:id="rId5" action="ppaction://hlinksldjump"/>
              </a:rPr>
              <a:t>Back to agenda page</a:t>
            </a:r>
          </a:p>
        </p:txBody>
      </p:sp>
      <p:sp>
        <p:nvSpPr>
          <p:cNvPr name="TextBox 5" id="5"/>
          <p:cNvSpPr txBox="true"/>
          <p:nvPr/>
        </p:nvSpPr>
        <p:spPr>
          <a:xfrm rot="0">
            <a:off x="2661965" y="3728720"/>
            <a:ext cx="12312821" cy="5689600"/>
          </a:xfrm>
          <a:prstGeom prst="rect">
            <a:avLst/>
          </a:prstGeom>
        </p:spPr>
        <p:txBody>
          <a:bodyPr anchor="t" rtlCol="false" tIns="0" lIns="0" bIns="0" rIns="0">
            <a:spAutoFit/>
          </a:bodyPr>
          <a:lstStyle/>
          <a:p>
            <a:pPr algn="just">
              <a:lnSpc>
                <a:spcPts val="3500"/>
              </a:lnSpc>
              <a:spcBef>
                <a:spcPct val="0"/>
              </a:spcBef>
            </a:pPr>
            <a:r>
              <a:rPr lang="en-US" sz="2500">
                <a:solidFill>
                  <a:srgbClr val="FFFFFF"/>
                </a:solidFill>
                <a:latin typeface="Be Vietnam"/>
                <a:ea typeface="Be Vietnam"/>
                <a:cs typeface="Be Vietnam"/>
                <a:sym typeface="Be Vietnam"/>
              </a:rPr>
              <a:t>Datas</a:t>
            </a:r>
            <a:r>
              <a:rPr lang="en-US" sz="2500" strike="noStrike">
                <a:solidFill>
                  <a:srgbClr val="FFFFFF"/>
                </a:solidFill>
                <a:latin typeface="Be Vietnam"/>
                <a:ea typeface="Be Vietnam"/>
                <a:cs typeface="Be Vietnam"/>
                <a:sym typeface="Be Vietnam"/>
              </a:rPr>
              <a:t>et Fashion Boutique memuat data penjualan produk fashion yang mencakup atribut produk (kategori, brand, warna, ukuran, harga, diskon, dan stok), data pengalaman pelanggan (customer rating), serta informasi operasional seperti retur dan alasannya. Analisis ini bertujuan untuk memahami perilaku dan tren pembelian pelanggan, mengidentifikasi hubungan customer rating dan retur, serta menemukan pola musiman yang dapat dimanfaatkan untuk perencanaan bisnis.</a:t>
            </a:r>
          </a:p>
          <a:p>
            <a:pPr algn="just">
              <a:lnSpc>
                <a:spcPts val="3500"/>
              </a:lnSpc>
              <a:spcBef>
                <a:spcPct val="0"/>
              </a:spcBef>
            </a:pPr>
          </a:p>
          <a:p>
            <a:pPr algn="just">
              <a:lnSpc>
                <a:spcPts val="3500"/>
              </a:lnSpc>
              <a:spcBef>
                <a:spcPct val="0"/>
              </a:spcBef>
            </a:pPr>
            <a:r>
              <a:rPr lang="en-US" sz="2500" strike="noStrike">
                <a:solidFill>
                  <a:srgbClr val="FFFFFF"/>
                </a:solidFill>
                <a:latin typeface="Be Vietnam"/>
                <a:ea typeface="Be Vietnam"/>
                <a:cs typeface="Be Vietnam"/>
                <a:sym typeface="Be Vietnam"/>
              </a:rPr>
              <a:t>Metode: EDA &amp; Marketing Channel Analysis</a:t>
            </a:r>
          </a:p>
          <a:p>
            <a:pPr algn="just">
              <a:lnSpc>
                <a:spcPts val="3500"/>
              </a:lnSpc>
              <a:spcBef>
                <a:spcPct val="0"/>
              </a:spcBef>
            </a:pPr>
          </a:p>
          <a:p>
            <a:pPr algn="just" marL="0" indent="0" lvl="1">
              <a:lnSpc>
                <a:spcPts val="3500"/>
              </a:lnSpc>
              <a:spcBef>
                <a:spcPct val="0"/>
              </a:spcBef>
            </a:pPr>
            <a:r>
              <a:rPr lang="en-US" sz="2500" strike="noStrike">
                <a:solidFill>
                  <a:srgbClr val="FFFFFF"/>
                </a:solidFill>
                <a:latin typeface="Be Vietnam"/>
                <a:ea typeface="Be Vietnam"/>
                <a:cs typeface="Be Vietnam"/>
                <a:sym typeface="Be Vietnam"/>
              </a:rPr>
              <a:t>Hasil: Analisis mendalam akan membantu tim pemasaran, manajemen produk, dan operasional dalam merumuskan strategi berbasis data untuk mengurangi retur, meningkatkan kepuasan pelanggan, dan memaksimalkan keuntungan.</a:t>
            </a:r>
          </a:p>
        </p:txBody>
      </p:sp>
      <p:sp>
        <p:nvSpPr>
          <p:cNvPr name="TextBox 6" id="6"/>
          <p:cNvSpPr txBox="true"/>
          <p:nvPr/>
        </p:nvSpPr>
        <p:spPr>
          <a:xfrm rot="0">
            <a:off x="687421" y="1365142"/>
            <a:ext cx="9285577" cy="1076325"/>
          </a:xfrm>
          <a:prstGeom prst="rect">
            <a:avLst/>
          </a:prstGeom>
        </p:spPr>
        <p:txBody>
          <a:bodyPr anchor="t" rtlCol="false" tIns="0" lIns="0" bIns="0" rIns="0">
            <a:spAutoFit/>
          </a:bodyPr>
          <a:lstStyle/>
          <a:p>
            <a:pPr algn="l" marL="0" indent="0" lvl="0">
              <a:lnSpc>
                <a:spcPts val="7500"/>
              </a:lnSpc>
            </a:pPr>
            <a:r>
              <a:rPr lang="en-US" sz="7500" spc="-225">
                <a:solidFill>
                  <a:srgbClr val="FFFFFF"/>
                </a:solidFill>
                <a:latin typeface="Telegraf"/>
                <a:ea typeface="Telegraf"/>
                <a:cs typeface="Telegraf"/>
                <a:sym typeface="Telegraf"/>
              </a:rPr>
              <a:t>OVERVIEW PROJECT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3188562"/>
            <a:chOff x="0" y="0"/>
            <a:chExt cx="4816593" cy="839786"/>
          </a:xfrm>
        </p:grpSpPr>
        <p:sp>
          <p:nvSpPr>
            <p:cNvPr name="Freeform 3" id="3"/>
            <p:cNvSpPr/>
            <p:nvPr/>
          </p:nvSpPr>
          <p:spPr>
            <a:xfrm flipH="false" flipV="false" rot="0">
              <a:off x="0" y="0"/>
              <a:ext cx="4816592" cy="839786"/>
            </a:xfrm>
            <a:custGeom>
              <a:avLst/>
              <a:gdLst/>
              <a:ahLst/>
              <a:cxnLst/>
              <a:rect r="r" b="b" t="t" l="l"/>
              <a:pathLst>
                <a:path h="839786" w="4816592">
                  <a:moveTo>
                    <a:pt x="0" y="0"/>
                  </a:moveTo>
                  <a:lnTo>
                    <a:pt x="4816592" y="0"/>
                  </a:lnTo>
                  <a:lnTo>
                    <a:pt x="4816592" y="839786"/>
                  </a:lnTo>
                  <a:lnTo>
                    <a:pt x="0" y="839786"/>
                  </a:lnTo>
                  <a:close/>
                </a:path>
              </a:pathLst>
            </a:custGeom>
            <a:solidFill>
              <a:srgbClr val="F5334E"/>
            </a:solidFill>
          </p:spPr>
        </p:sp>
        <p:sp>
          <p:nvSpPr>
            <p:cNvPr name="TextBox 4" id="4"/>
            <p:cNvSpPr txBox="true"/>
            <p:nvPr/>
          </p:nvSpPr>
          <p:spPr>
            <a:xfrm>
              <a:off x="0" y="-57150"/>
              <a:ext cx="4816593" cy="896936"/>
            </a:xfrm>
            <a:prstGeom prst="rect">
              <a:avLst/>
            </a:prstGeom>
          </p:spPr>
          <p:txBody>
            <a:bodyPr anchor="ctr" rtlCol="false" tIns="50800" lIns="50800" bIns="50800" rIns="50800"/>
            <a:lstStyle/>
            <a:p>
              <a:pPr algn="ctr">
                <a:lnSpc>
                  <a:spcPts val="3500"/>
                </a:lnSpc>
              </a:pPr>
            </a:p>
          </p:txBody>
        </p:sp>
      </p:grpSp>
      <p:sp>
        <p:nvSpPr>
          <p:cNvPr name="Freeform 5" id="5"/>
          <p:cNvSpPr/>
          <p:nvPr/>
        </p:nvSpPr>
        <p:spPr>
          <a:xfrm flipH="false" flipV="false" rot="0">
            <a:off x="16719766" y="1028700"/>
            <a:ext cx="539534" cy="539534"/>
          </a:xfrm>
          <a:custGeom>
            <a:avLst/>
            <a:gdLst/>
            <a:ahLst/>
            <a:cxnLst/>
            <a:rect r="r" b="b" t="t" l="l"/>
            <a:pathLst>
              <a:path h="539534" w="539534">
                <a:moveTo>
                  <a:pt x="0" y="0"/>
                </a:moveTo>
                <a:lnTo>
                  <a:pt x="539534" y="0"/>
                </a:lnTo>
                <a:lnTo>
                  <a:pt x="539534" y="539534"/>
                </a:lnTo>
                <a:lnTo>
                  <a:pt x="0" y="539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90700" y="1063409"/>
            <a:ext cx="7353300" cy="1076325"/>
          </a:xfrm>
          <a:prstGeom prst="rect">
            <a:avLst/>
          </a:prstGeom>
        </p:spPr>
        <p:txBody>
          <a:bodyPr anchor="t" rtlCol="false" tIns="0" lIns="0" bIns="0" rIns="0">
            <a:spAutoFit/>
          </a:bodyPr>
          <a:lstStyle/>
          <a:p>
            <a:pPr algn="l" marL="0" indent="0" lvl="0">
              <a:lnSpc>
                <a:spcPts val="7500"/>
              </a:lnSpc>
            </a:pPr>
            <a:r>
              <a:rPr lang="en-US" sz="7500" spc="-225">
                <a:solidFill>
                  <a:srgbClr val="FFFFFF"/>
                </a:solidFill>
                <a:latin typeface="Telegraf"/>
                <a:ea typeface="Telegraf"/>
                <a:cs typeface="Telegraf"/>
                <a:sym typeface="Telegraf"/>
              </a:rPr>
              <a:t>STEP TO DO</a:t>
            </a:r>
          </a:p>
        </p:txBody>
      </p:sp>
      <p:sp>
        <p:nvSpPr>
          <p:cNvPr name="TextBox 7" id="7"/>
          <p:cNvSpPr txBox="true"/>
          <p:nvPr/>
        </p:nvSpPr>
        <p:spPr>
          <a:xfrm rot="0">
            <a:off x="1028700" y="4475269"/>
            <a:ext cx="3118445" cy="8382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DATA UNDERSTANDING</a:t>
            </a:r>
          </a:p>
        </p:txBody>
      </p:sp>
      <p:sp>
        <p:nvSpPr>
          <p:cNvPr name="TextBox 8" id="8"/>
          <p:cNvSpPr txBox="true"/>
          <p:nvPr/>
        </p:nvSpPr>
        <p:spPr>
          <a:xfrm rot="0">
            <a:off x="1028700" y="5899589"/>
            <a:ext cx="3118445" cy="1746250"/>
          </a:xfrm>
          <a:prstGeom prst="rect">
            <a:avLst/>
          </a:prstGeom>
        </p:spPr>
        <p:txBody>
          <a:bodyPr anchor="t" rtlCol="false" tIns="0" lIns="0" bIns="0" rIns="0">
            <a:spAutoFit/>
          </a:bodyPr>
          <a:lstStyle/>
          <a:p>
            <a:pPr algn="just" marL="0" indent="0" lvl="1">
              <a:lnSpc>
                <a:spcPts val="3500"/>
              </a:lnSpc>
              <a:spcBef>
                <a:spcPct val="0"/>
              </a:spcBef>
            </a:pPr>
            <a:r>
              <a:rPr lang="en-US" sz="2500">
                <a:solidFill>
                  <a:srgbClr val="022658"/>
                </a:solidFill>
                <a:latin typeface="Be Vietnam"/>
                <a:ea typeface="Be Vietnam"/>
                <a:cs typeface="Be Vietnam"/>
                <a:sym typeface="Be Vietnam"/>
              </a:rPr>
              <a:t>Memahami dataset kemudian menyusun objective questions</a:t>
            </a:r>
          </a:p>
        </p:txBody>
      </p:sp>
      <p:sp>
        <p:nvSpPr>
          <p:cNvPr name="TextBox 9" id="9"/>
          <p:cNvSpPr txBox="true"/>
          <p:nvPr/>
        </p:nvSpPr>
        <p:spPr>
          <a:xfrm rot="0">
            <a:off x="5399418" y="4475269"/>
            <a:ext cx="3118445" cy="4191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DATA CLEANING</a:t>
            </a:r>
          </a:p>
        </p:txBody>
      </p:sp>
      <p:sp>
        <p:nvSpPr>
          <p:cNvPr name="TextBox 10" id="10"/>
          <p:cNvSpPr txBox="true"/>
          <p:nvPr/>
        </p:nvSpPr>
        <p:spPr>
          <a:xfrm rot="0">
            <a:off x="5399418" y="5899589"/>
            <a:ext cx="3118445" cy="1746250"/>
          </a:xfrm>
          <a:prstGeom prst="rect">
            <a:avLst/>
          </a:prstGeom>
        </p:spPr>
        <p:txBody>
          <a:bodyPr anchor="t" rtlCol="false" tIns="0" lIns="0" bIns="0" rIns="0">
            <a:spAutoFit/>
          </a:bodyPr>
          <a:lstStyle/>
          <a:p>
            <a:pPr algn="l">
              <a:lnSpc>
                <a:spcPts val="3500"/>
              </a:lnSpc>
              <a:spcBef>
                <a:spcPct val="0"/>
              </a:spcBef>
            </a:pPr>
            <a:r>
              <a:rPr lang="en-US" sz="2500">
                <a:solidFill>
                  <a:srgbClr val="022658"/>
                </a:solidFill>
                <a:latin typeface="Be Vietnam"/>
                <a:ea typeface="Be Vietnam"/>
                <a:cs typeface="Be Vietnam"/>
                <a:sym typeface="Be Vietnam"/>
              </a:rPr>
              <a:t>Cleaning data ( Handling duplicate, outliers dan missing value).</a:t>
            </a:r>
          </a:p>
        </p:txBody>
      </p:sp>
      <p:sp>
        <p:nvSpPr>
          <p:cNvPr name="TextBox 11" id="11"/>
          <p:cNvSpPr txBox="true"/>
          <p:nvPr/>
        </p:nvSpPr>
        <p:spPr>
          <a:xfrm rot="0">
            <a:off x="9770137" y="4475269"/>
            <a:ext cx="3118445" cy="8382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EXPLORATORY DATA ANALYSIS</a:t>
            </a:r>
          </a:p>
        </p:txBody>
      </p:sp>
      <p:sp>
        <p:nvSpPr>
          <p:cNvPr name="TextBox 12" id="12"/>
          <p:cNvSpPr txBox="true"/>
          <p:nvPr/>
        </p:nvSpPr>
        <p:spPr>
          <a:xfrm rot="0">
            <a:off x="9770137" y="5899589"/>
            <a:ext cx="3118445" cy="2622550"/>
          </a:xfrm>
          <a:prstGeom prst="rect">
            <a:avLst/>
          </a:prstGeom>
        </p:spPr>
        <p:txBody>
          <a:bodyPr anchor="t" rtlCol="false" tIns="0" lIns="0" bIns="0" rIns="0">
            <a:spAutoFit/>
          </a:bodyPr>
          <a:lstStyle/>
          <a:p>
            <a:pPr algn="l" marL="0" indent="0" lvl="1">
              <a:lnSpc>
                <a:spcPts val="3500"/>
              </a:lnSpc>
              <a:spcBef>
                <a:spcPct val="0"/>
              </a:spcBef>
            </a:pPr>
            <a:r>
              <a:rPr lang="en-US" sz="2500">
                <a:solidFill>
                  <a:srgbClr val="022658"/>
                </a:solidFill>
                <a:latin typeface="Be Vietnam"/>
                <a:ea typeface="Be Vietnam"/>
                <a:cs typeface="Be Vietnam"/>
                <a:sym typeface="Be Vietnam"/>
              </a:rPr>
              <a:t>Menganalisis untuk menjawab  objective questions dengan menggunakan key metrics</a:t>
            </a:r>
          </a:p>
        </p:txBody>
      </p:sp>
      <p:sp>
        <p:nvSpPr>
          <p:cNvPr name="TextBox 13" id="13"/>
          <p:cNvSpPr txBox="true"/>
          <p:nvPr/>
        </p:nvSpPr>
        <p:spPr>
          <a:xfrm rot="0">
            <a:off x="14140855" y="4475269"/>
            <a:ext cx="3118445" cy="8382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DATA VISUALIZATION</a:t>
            </a:r>
          </a:p>
        </p:txBody>
      </p:sp>
      <p:sp>
        <p:nvSpPr>
          <p:cNvPr name="TextBox 14" id="14"/>
          <p:cNvSpPr txBox="true"/>
          <p:nvPr/>
        </p:nvSpPr>
        <p:spPr>
          <a:xfrm rot="0">
            <a:off x="14136357" y="5899589"/>
            <a:ext cx="3118445" cy="2184400"/>
          </a:xfrm>
          <a:prstGeom prst="rect">
            <a:avLst/>
          </a:prstGeom>
        </p:spPr>
        <p:txBody>
          <a:bodyPr anchor="t" rtlCol="false" tIns="0" lIns="0" bIns="0" rIns="0">
            <a:spAutoFit/>
          </a:bodyPr>
          <a:lstStyle/>
          <a:p>
            <a:pPr algn="l" marL="0" indent="0" lvl="1">
              <a:lnSpc>
                <a:spcPts val="3500"/>
              </a:lnSpc>
              <a:spcBef>
                <a:spcPct val="0"/>
              </a:spcBef>
            </a:pPr>
            <a:r>
              <a:rPr lang="en-US" sz="2500">
                <a:solidFill>
                  <a:srgbClr val="022658"/>
                </a:solidFill>
                <a:latin typeface="Be Vietnam"/>
                <a:ea typeface="Be Vietnam"/>
                <a:cs typeface="Be Vietnam"/>
                <a:sym typeface="Be Vietnam"/>
              </a:rPr>
              <a:t>Membuat dashboard untuk memvisualisasikan data menggunakan powerBI</a:t>
            </a:r>
          </a:p>
        </p:txBody>
      </p:sp>
      <p:sp>
        <p:nvSpPr>
          <p:cNvPr name="TextBox 15" id="15"/>
          <p:cNvSpPr txBox="true"/>
          <p:nvPr/>
        </p:nvSpPr>
        <p:spPr>
          <a:xfrm rot="0">
            <a:off x="14438490" y="8951595"/>
            <a:ext cx="2820810" cy="306705"/>
          </a:xfrm>
          <a:prstGeom prst="rect">
            <a:avLst/>
          </a:prstGeom>
        </p:spPr>
        <p:txBody>
          <a:bodyPr anchor="t" rtlCol="false" tIns="0" lIns="0" bIns="0" rIns="0">
            <a:spAutoFit/>
          </a:bodyPr>
          <a:lstStyle/>
          <a:p>
            <a:pPr algn="r">
              <a:lnSpc>
                <a:spcPts val="2520"/>
              </a:lnSpc>
            </a:pPr>
            <a:r>
              <a:rPr lang="en-US" sz="1800" u="sng">
                <a:solidFill>
                  <a:srgbClr val="022658"/>
                </a:solidFill>
                <a:latin typeface="Be Vietnam"/>
                <a:ea typeface="Be Vietnam"/>
                <a:cs typeface="Be Vietnam"/>
                <a:sym typeface="Be Vietnam"/>
                <a:hlinkClick r:id="rId4" action="ppaction://hlinksldjump"/>
              </a:rPr>
              <a:t>Back to agenda page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3188562"/>
            <a:chOff x="0" y="0"/>
            <a:chExt cx="4816593" cy="839786"/>
          </a:xfrm>
        </p:grpSpPr>
        <p:sp>
          <p:nvSpPr>
            <p:cNvPr name="Freeform 3" id="3"/>
            <p:cNvSpPr/>
            <p:nvPr/>
          </p:nvSpPr>
          <p:spPr>
            <a:xfrm flipH="false" flipV="false" rot="0">
              <a:off x="0" y="0"/>
              <a:ext cx="4816592" cy="839786"/>
            </a:xfrm>
            <a:custGeom>
              <a:avLst/>
              <a:gdLst/>
              <a:ahLst/>
              <a:cxnLst/>
              <a:rect r="r" b="b" t="t" l="l"/>
              <a:pathLst>
                <a:path h="839786" w="4816592">
                  <a:moveTo>
                    <a:pt x="0" y="0"/>
                  </a:moveTo>
                  <a:lnTo>
                    <a:pt x="4816592" y="0"/>
                  </a:lnTo>
                  <a:lnTo>
                    <a:pt x="4816592" y="839786"/>
                  </a:lnTo>
                  <a:lnTo>
                    <a:pt x="0" y="839786"/>
                  </a:lnTo>
                  <a:close/>
                </a:path>
              </a:pathLst>
            </a:custGeom>
            <a:solidFill>
              <a:srgbClr val="F5334E"/>
            </a:solidFill>
          </p:spPr>
        </p:sp>
        <p:sp>
          <p:nvSpPr>
            <p:cNvPr name="TextBox 4" id="4"/>
            <p:cNvSpPr txBox="true"/>
            <p:nvPr/>
          </p:nvSpPr>
          <p:spPr>
            <a:xfrm>
              <a:off x="0" y="-57150"/>
              <a:ext cx="4816593" cy="896936"/>
            </a:xfrm>
            <a:prstGeom prst="rect">
              <a:avLst/>
            </a:prstGeom>
          </p:spPr>
          <p:txBody>
            <a:bodyPr anchor="ctr" rtlCol="false" tIns="50800" lIns="50800" bIns="50800" rIns="50800"/>
            <a:lstStyle/>
            <a:p>
              <a:pPr algn="ctr">
                <a:lnSpc>
                  <a:spcPts val="3500"/>
                </a:lnSpc>
              </a:pPr>
            </a:p>
          </p:txBody>
        </p:sp>
      </p:grpSp>
      <p:sp>
        <p:nvSpPr>
          <p:cNvPr name="Freeform 5" id="5"/>
          <p:cNvSpPr/>
          <p:nvPr/>
        </p:nvSpPr>
        <p:spPr>
          <a:xfrm flipH="false" flipV="false" rot="0">
            <a:off x="16719766" y="1028700"/>
            <a:ext cx="539534" cy="539534"/>
          </a:xfrm>
          <a:custGeom>
            <a:avLst/>
            <a:gdLst/>
            <a:ahLst/>
            <a:cxnLst/>
            <a:rect r="r" b="b" t="t" l="l"/>
            <a:pathLst>
              <a:path h="539534" w="539534">
                <a:moveTo>
                  <a:pt x="0" y="0"/>
                </a:moveTo>
                <a:lnTo>
                  <a:pt x="539534" y="0"/>
                </a:lnTo>
                <a:lnTo>
                  <a:pt x="539534" y="539534"/>
                </a:lnTo>
                <a:lnTo>
                  <a:pt x="0" y="539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1095375"/>
            <a:ext cx="11552933" cy="1076325"/>
          </a:xfrm>
          <a:prstGeom prst="rect">
            <a:avLst/>
          </a:prstGeom>
        </p:spPr>
        <p:txBody>
          <a:bodyPr anchor="t" rtlCol="false" tIns="0" lIns="0" bIns="0" rIns="0">
            <a:spAutoFit/>
          </a:bodyPr>
          <a:lstStyle/>
          <a:p>
            <a:pPr algn="l" marL="0" indent="0" lvl="0">
              <a:lnSpc>
                <a:spcPts val="7500"/>
              </a:lnSpc>
            </a:pPr>
            <a:r>
              <a:rPr lang="en-US" sz="7500" spc="-225">
                <a:solidFill>
                  <a:srgbClr val="FFFFFF"/>
                </a:solidFill>
                <a:latin typeface="Telegraf"/>
                <a:ea typeface="Telegraf"/>
                <a:cs typeface="Telegraf"/>
                <a:sym typeface="Telegraf"/>
              </a:rPr>
              <a:t>OBJECTIVES QUESTIONS</a:t>
            </a:r>
          </a:p>
        </p:txBody>
      </p:sp>
      <p:sp>
        <p:nvSpPr>
          <p:cNvPr name="TextBox 7" id="7"/>
          <p:cNvSpPr txBox="true"/>
          <p:nvPr/>
        </p:nvSpPr>
        <p:spPr>
          <a:xfrm rot="0">
            <a:off x="1347888" y="5143500"/>
            <a:ext cx="3118445" cy="12573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APA KATEGORI YANG PALING DIMINATI?</a:t>
            </a:r>
          </a:p>
        </p:txBody>
      </p:sp>
      <p:sp>
        <p:nvSpPr>
          <p:cNvPr name="TextBox 8" id="8"/>
          <p:cNvSpPr txBox="true"/>
          <p:nvPr/>
        </p:nvSpPr>
        <p:spPr>
          <a:xfrm rot="0">
            <a:off x="4466333" y="7391573"/>
            <a:ext cx="3118445" cy="12573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BRAND APA YANG PALING DIMINATI?</a:t>
            </a:r>
          </a:p>
        </p:txBody>
      </p:sp>
      <p:sp>
        <p:nvSpPr>
          <p:cNvPr name="TextBox 9" id="9"/>
          <p:cNvSpPr txBox="true"/>
          <p:nvPr/>
        </p:nvSpPr>
        <p:spPr>
          <a:xfrm rot="0">
            <a:off x="11022410" y="6324600"/>
            <a:ext cx="3118445" cy="29337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BAGAIMANA TREN PERUBAHAN RATA-RATA RATING CUSTOMER PERBULANNYA?</a:t>
            </a:r>
          </a:p>
        </p:txBody>
      </p:sp>
      <p:sp>
        <p:nvSpPr>
          <p:cNvPr name="TextBox 10" id="10"/>
          <p:cNvSpPr txBox="true"/>
          <p:nvPr/>
        </p:nvSpPr>
        <p:spPr>
          <a:xfrm rot="0">
            <a:off x="14140855" y="4475269"/>
            <a:ext cx="3118445" cy="16764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APA MUSIM DENGAN TOTAL SALES TERBANYAK?</a:t>
            </a:r>
          </a:p>
        </p:txBody>
      </p:sp>
      <p:sp>
        <p:nvSpPr>
          <p:cNvPr name="TextBox 11" id="11"/>
          <p:cNvSpPr txBox="true"/>
          <p:nvPr/>
        </p:nvSpPr>
        <p:spPr>
          <a:xfrm rot="0">
            <a:off x="14438490" y="8951595"/>
            <a:ext cx="2820810" cy="306705"/>
          </a:xfrm>
          <a:prstGeom prst="rect">
            <a:avLst/>
          </a:prstGeom>
        </p:spPr>
        <p:txBody>
          <a:bodyPr anchor="t" rtlCol="false" tIns="0" lIns="0" bIns="0" rIns="0">
            <a:spAutoFit/>
          </a:bodyPr>
          <a:lstStyle/>
          <a:p>
            <a:pPr algn="r">
              <a:lnSpc>
                <a:spcPts val="2520"/>
              </a:lnSpc>
            </a:pPr>
            <a:r>
              <a:rPr lang="en-US" sz="1800" u="sng">
                <a:solidFill>
                  <a:srgbClr val="022658"/>
                </a:solidFill>
                <a:latin typeface="Be Vietnam"/>
                <a:ea typeface="Be Vietnam"/>
                <a:cs typeface="Be Vietnam"/>
                <a:sym typeface="Be Vietnam"/>
                <a:hlinkClick r:id="rId4" action="ppaction://hlinksldjump"/>
              </a:rPr>
              <a:t>Back to agenda page</a:t>
            </a:r>
          </a:p>
        </p:txBody>
      </p:sp>
      <p:sp>
        <p:nvSpPr>
          <p:cNvPr name="TextBox 12" id="12"/>
          <p:cNvSpPr txBox="true"/>
          <p:nvPr/>
        </p:nvSpPr>
        <p:spPr>
          <a:xfrm rot="0">
            <a:off x="7584778" y="3407831"/>
            <a:ext cx="3118445" cy="25146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BAGAIMANA PERBANDINGAN RATA-RATA RATING CUSTOMER ANTAR BRAND?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719766" y="1028700"/>
            <a:ext cx="539534" cy="539534"/>
          </a:xfrm>
          <a:custGeom>
            <a:avLst/>
            <a:gdLst/>
            <a:ahLst/>
            <a:cxnLst/>
            <a:rect r="r" b="b" t="t" l="l"/>
            <a:pathLst>
              <a:path h="539534" w="539534">
                <a:moveTo>
                  <a:pt x="0" y="0"/>
                </a:moveTo>
                <a:lnTo>
                  <a:pt x="539534" y="0"/>
                </a:lnTo>
                <a:lnTo>
                  <a:pt x="539534" y="539534"/>
                </a:lnTo>
                <a:lnTo>
                  <a:pt x="0" y="539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404193" y="7357136"/>
            <a:ext cx="920941" cy="92094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22658"/>
            </a:solidFill>
            <a:ln w="19050" cap="sq">
              <a:solidFill>
                <a:srgbClr val="000000"/>
              </a:solidFill>
              <a:prstDash val="solid"/>
              <a:miter/>
            </a:ln>
          </p:spPr>
        </p:sp>
        <p:sp>
          <p:nvSpPr>
            <p:cNvPr name="TextBox 5" id="5"/>
            <p:cNvSpPr txBox="true"/>
            <p:nvPr/>
          </p:nvSpPr>
          <p:spPr>
            <a:xfrm>
              <a:off x="76200" y="19050"/>
              <a:ext cx="660400" cy="717550"/>
            </a:xfrm>
            <a:prstGeom prst="rect">
              <a:avLst/>
            </a:prstGeom>
          </p:spPr>
          <p:txBody>
            <a:bodyPr anchor="ctr" rtlCol="false" tIns="41279" lIns="41279" bIns="41279" rIns="41279"/>
            <a:lstStyle/>
            <a:p>
              <a:pPr algn="ctr">
                <a:lnSpc>
                  <a:spcPts val="3500"/>
                </a:lnSpc>
              </a:pPr>
            </a:p>
          </p:txBody>
        </p:sp>
      </p:grpSp>
      <p:grpSp>
        <p:nvGrpSpPr>
          <p:cNvPr name="Group 6" id="6"/>
          <p:cNvGrpSpPr/>
          <p:nvPr/>
        </p:nvGrpSpPr>
        <p:grpSpPr>
          <a:xfrm rot="0">
            <a:off x="8404193" y="5181396"/>
            <a:ext cx="920941" cy="92094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22658"/>
            </a:solidFill>
            <a:ln w="19050" cap="sq">
              <a:solidFill>
                <a:srgbClr val="000000"/>
              </a:solidFill>
              <a:prstDash val="solid"/>
              <a:miter/>
            </a:ln>
          </p:spPr>
        </p:sp>
        <p:sp>
          <p:nvSpPr>
            <p:cNvPr name="TextBox 8" id="8"/>
            <p:cNvSpPr txBox="true"/>
            <p:nvPr/>
          </p:nvSpPr>
          <p:spPr>
            <a:xfrm>
              <a:off x="76200" y="19050"/>
              <a:ext cx="660400" cy="717550"/>
            </a:xfrm>
            <a:prstGeom prst="rect">
              <a:avLst/>
            </a:prstGeom>
          </p:spPr>
          <p:txBody>
            <a:bodyPr anchor="ctr" rtlCol="false" tIns="41279" lIns="41279" bIns="41279" rIns="41279"/>
            <a:lstStyle/>
            <a:p>
              <a:pPr algn="ctr">
                <a:lnSpc>
                  <a:spcPts val="3500"/>
                </a:lnSpc>
              </a:pPr>
            </a:p>
          </p:txBody>
        </p:sp>
      </p:grpSp>
      <p:grpSp>
        <p:nvGrpSpPr>
          <p:cNvPr name="Group 9" id="9"/>
          <p:cNvGrpSpPr/>
          <p:nvPr/>
        </p:nvGrpSpPr>
        <p:grpSpPr>
          <a:xfrm rot="0">
            <a:off x="8404193" y="3005657"/>
            <a:ext cx="920941" cy="920941"/>
            <a:chOff x="0" y="0"/>
            <a:chExt cx="1227922" cy="1227922"/>
          </a:xfrm>
        </p:grpSpPr>
        <p:grpSp>
          <p:nvGrpSpPr>
            <p:cNvPr name="Group 10" id="10"/>
            <p:cNvGrpSpPr/>
            <p:nvPr/>
          </p:nvGrpSpPr>
          <p:grpSpPr>
            <a:xfrm rot="0">
              <a:off x="0" y="0"/>
              <a:ext cx="1227922" cy="122792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22658"/>
              </a:solidFill>
              <a:ln w="19050" cap="sq">
                <a:solidFill>
                  <a:srgbClr val="000000"/>
                </a:solidFill>
                <a:prstDash val="solid"/>
                <a:miter/>
              </a:ln>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329585" y="312018"/>
              <a:ext cx="568751" cy="603886"/>
            </a:xfrm>
            <a:custGeom>
              <a:avLst/>
              <a:gdLst/>
              <a:ahLst/>
              <a:cxnLst/>
              <a:rect r="r" b="b" t="t" l="l"/>
              <a:pathLst>
                <a:path h="603886" w="568751">
                  <a:moveTo>
                    <a:pt x="0" y="0"/>
                  </a:moveTo>
                  <a:lnTo>
                    <a:pt x="568751" y="0"/>
                  </a:lnTo>
                  <a:lnTo>
                    <a:pt x="568751" y="603886"/>
                  </a:lnTo>
                  <a:lnTo>
                    <a:pt x="0" y="603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14" id="14"/>
          <p:cNvSpPr txBox="true"/>
          <p:nvPr/>
        </p:nvSpPr>
        <p:spPr>
          <a:xfrm rot="0">
            <a:off x="1613750" y="4200321"/>
            <a:ext cx="4793675" cy="2028825"/>
          </a:xfrm>
          <a:prstGeom prst="rect">
            <a:avLst/>
          </a:prstGeom>
        </p:spPr>
        <p:txBody>
          <a:bodyPr anchor="t" rtlCol="false" tIns="0" lIns="0" bIns="0" rIns="0">
            <a:spAutoFit/>
          </a:bodyPr>
          <a:lstStyle/>
          <a:p>
            <a:pPr algn="l" marL="0" indent="0" lvl="0">
              <a:lnSpc>
                <a:spcPts val="7500"/>
              </a:lnSpc>
            </a:pPr>
            <a:r>
              <a:rPr lang="en-US" sz="7500" spc="-225">
                <a:solidFill>
                  <a:srgbClr val="022658"/>
                </a:solidFill>
                <a:latin typeface="Telegraf"/>
                <a:ea typeface="Telegraf"/>
                <a:cs typeface="Telegraf"/>
                <a:sym typeface="Telegraf"/>
              </a:rPr>
              <a:t>KEY </a:t>
            </a:r>
            <a:r>
              <a:rPr lang="en-US" sz="7500" spc="-225">
                <a:solidFill>
                  <a:srgbClr val="F5334E"/>
                </a:solidFill>
                <a:latin typeface="Telegraf"/>
                <a:ea typeface="Telegraf"/>
                <a:cs typeface="Telegraf"/>
                <a:sym typeface="Telegraf"/>
              </a:rPr>
              <a:t>METRICS</a:t>
            </a:r>
          </a:p>
        </p:txBody>
      </p:sp>
      <p:sp>
        <p:nvSpPr>
          <p:cNvPr name="TextBox 15" id="15"/>
          <p:cNvSpPr txBox="true"/>
          <p:nvPr/>
        </p:nvSpPr>
        <p:spPr>
          <a:xfrm rot="0">
            <a:off x="9972090" y="3004792"/>
            <a:ext cx="7112693" cy="4191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CUSTOMER RATING</a:t>
            </a:r>
          </a:p>
        </p:txBody>
      </p:sp>
      <p:sp>
        <p:nvSpPr>
          <p:cNvPr name="TextBox 16" id="16"/>
          <p:cNvSpPr txBox="true"/>
          <p:nvPr/>
        </p:nvSpPr>
        <p:spPr>
          <a:xfrm rot="0">
            <a:off x="9972090" y="5180532"/>
            <a:ext cx="7112693" cy="4191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BRAND</a:t>
            </a:r>
          </a:p>
        </p:txBody>
      </p:sp>
      <p:sp>
        <p:nvSpPr>
          <p:cNvPr name="TextBox 17" id="17"/>
          <p:cNvSpPr txBox="true"/>
          <p:nvPr/>
        </p:nvSpPr>
        <p:spPr>
          <a:xfrm rot="0">
            <a:off x="9972090" y="7356272"/>
            <a:ext cx="7112693" cy="4191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CATEGORY</a:t>
            </a:r>
          </a:p>
        </p:txBody>
      </p:sp>
      <p:sp>
        <p:nvSpPr>
          <p:cNvPr name="TextBox 18" id="18"/>
          <p:cNvSpPr txBox="true"/>
          <p:nvPr/>
        </p:nvSpPr>
        <p:spPr>
          <a:xfrm rot="0">
            <a:off x="1028700" y="8951595"/>
            <a:ext cx="2820810" cy="306705"/>
          </a:xfrm>
          <a:prstGeom prst="rect">
            <a:avLst/>
          </a:prstGeom>
        </p:spPr>
        <p:txBody>
          <a:bodyPr anchor="t" rtlCol="false" tIns="0" lIns="0" bIns="0" rIns="0">
            <a:spAutoFit/>
          </a:bodyPr>
          <a:lstStyle/>
          <a:p>
            <a:pPr algn="l">
              <a:lnSpc>
                <a:spcPts val="2520"/>
              </a:lnSpc>
            </a:pPr>
            <a:r>
              <a:rPr lang="en-US" sz="1800" u="sng">
                <a:solidFill>
                  <a:srgbClr val="022658"/>
                </a:solidFill>
                <a:latin typeface="Be Vietnam"/>
                <a:ea typeface="Be Vietnam"/>
                <a:cs typeface="Be Vietnam"/>
                <a:sym typeface="Be Vietnam"/>
                <a:hlinkClick r:id="rId6" action="ppaction://hlinksldjump"/>
              </a:rPr>
              <a:t>Back to agenda page</a:t>
            </a:r>
          </a:p>
        </p:txBody>
      </p:sp>
      <p:grpSp>
        <p:nvGrpSpPr>
          <p:cNvPr name="Group 19" id="19"/>
          <p:cNvGrpSpPr/>
          <p:nvPr/>
        </p:nvGrpSpPr>
        <p:grpSpPr>
          <a:xfrm rot="0">
            <a:off x="8404193" y="1108627"/>
            <a:ext cx="920941" cy="920941"/>
            <a:chOff x="0" y="0"/>
            <a:chExt cx="1227922" cy="1227922"/>
          </a:xfrm>
        </p:grpSpPr>
        <p:grpSp>
          <p:nvGrpSpPr>
            <p:cNvPr name="Group 20" id="20"/>
            <p:cNvGrpSpPr/>
            <p:nvPr/>
          </p:nvGrpSpPr>
          <p:grpSpPr>
            <a:xfrm rot="0">
              <a:off x="0" y="0"/>
              <a:ext cx="1227922" cy="1227922"/>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22658"/>
              </a:solidFill>
              <a:ln w="19050" cap="sq">
                <a:solidFill>
                  <a:srgbClr val="000000"/>
                </a:solidFill>
                <a:prstDash val="solid"/>
                <a:miter/>
              </a:ln>
            </p:spPr>
          </p:sp>
          <p:sp>
            <p:nvSpPr>
              <p:cNvPr name="TextBox 22" id="2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23" id="23"/>
            <p:cNvSpPr/>
            <p:nvPr/>
          </p:nvSpPr>
          <p:spPr>
            <a:xfrm flipH="false" flipV="false" rot="0">
              <a:off x="329585" y="312018"/>
              <a:ext cx="568751" cy="603886"/>
            </a:xfrm>
            <a:custGeom>
              <a:avLst/>
              <a:gdLst/>
              <a:ahLst/>
              <a:cxnLst/>
              <a:rect r="r" b="b" t="t" l="l"/>
              <a:pathLst>
                <a:path h="603886" w="568751">
                  <a:moveTo>
                    <a:pt x="0" y="0"/>
                  </a:moveTo>
                  <a:lnTo>
                    <a:pt x="568751" y="0"/>
                  </a:lnTo>
                  <a:lnTo>
                    <a:pt x="568751" y="603886"/>
                  </a:lnTo>
                  <a:lnTo>
                    <a:pt x="0" y="603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24" id="24"/>
          <p:cNvSpPr txBox="true"/>
          <p:nvPr/>
        </p:nvSpPr>
        <p:spPr>
          <a:xfrm rot="0">
            <a:off x="9876840" y="1106899"/>
            <a:ext cx="7112693" cy="4191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RETURN STATUS</a:t>
            </a:r>
          </a:p>
        </p:txBody>
      </p:sp>
      <p:grpSp>
        <p:nvGrpSpPr>
          <p:cNvPr name="Group 25" id="25"/>
          <p:cNvGrpSpPr/>
          <p:nvPr/>
        </p:nvGrpSpPr>
        <p:grpSpPr>
          <a:xfrm rot="0">
            <a:off x="8404193" y="7356272"/>
            <a:ext cx="920941" cy="920941"/>
            <a:chOff x="0" y="0"/>
            <a:chExt cx="1227922" cy="1227922"/>
          </a:xfrm>
        </p:grpSpPr>
        <p:grpSp>
          <p:nvGrpSpPr>
            <p:cNvPr name="Group 26" id="26"/>
            <p:cNvGrpSpPr/>
            <p:nvPr/>
          </p:nvGrpSpPr>
          <p:grpSpPr>
            <a:xfrm rot="0">
              <a:off x="0" y="0"/>
              <a:ext cx="1227922" cy="1227922"/>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22658"/>
              </a:solidFill>
              <a:ln w="19050" cap="sq">
                <a:solidFill>
                  <a:srgbClr val="000000"/>
                </a:solidFill>
                <a:prstDash val="solid"/>
                <a:miter/>
              </a:ln>
            </p:spPr>
          </p:sp>
          <p:sp>
            <p:nvSpPr>
              <p:cNvPr name="TextBox 28" id="28"/>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29" id="29"/>
            <p:cNvSpPr/>
            <p:nvPr/>
          </p:nvSpPr>
          <p:spPr>
            <a:xfrm flipH="false" flipV="false" rot="0">
              <a:off x="329585" y="312018"/>
              <a:ext cx="568751" cy="603886"/>
            </a:xfrm>
            <a:custGeom>
              <a:avLst/>
              <a:gdLst/>
              <a:ahLst/>
              <a:cxnLst/>
              <a:rect r="r" b="b" t="t" l="l"/>
              <a:pathLst>
                <a:path h="603886" w="568751">
                  <a:moveTo>
                    <a:pt x="0" y="0"/>
                  </a:moveTo>
                  <a:lnTo>
                    <a:pt x="568751" y="0"/>
                  </a:lnTo>
                  <a:lnTo>
                    <a:pt x="568751" y="603886"/>
                  </a:lnTo>
                  <a:lnTo>
                    <a:pt x="0" y="603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30" id="30"/>
          <p:cNvGrpSpPr/>
          <p:nvPr/>
        </p:nvGrpSpPr>
        <p:grpSpPr>
          <a:xfrm rot="0">
            <a:off x="8404193" y="5129636"/>
            <a:ext cx="920941" cy="920941"/>
            <a:chOff x="0" y="0"/>
            <a:chExt cx="1227922" cy="1227922"/>
          </a:xfrm>
        </p:grpSpPr>
        <p:grpSp>
          <p:nvGrpSpPr>
            <p:cNvPr name="Group 31" id="31"/>
            <p:cNvGrpSpPr/>
            <p:nvPr/>
          </p:nvGrpSpPr>
          <p:grpSpPr>
            <a:xfrm rot="0">
              <a:off x="0" y="0"/>
              <a:ext cx="1227922" cy="1227922"/>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22658"/>
              </a:solidFill>
              <a:ln w="19050" cap="sq">
                <a:solidFill>
                  <a:srgbClr val="000000"/>
                </a:solidFill>
                <a:prstDash val="solid"/>
                <a:miter/>
              </a:ln>
            </p:spPr>
          </p:sp>
          <p:sp>
            <p:nvSpPr>
              <p:cNvPr name="TextBox 33" id="33"/>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34" id="34"/>
            <p:cNvSpPr/>
            <p:nvPr/>
          </p:nvSpPr>
          <p:spPr>
            <a:xfrm flipH="false" flipV="false" rot="0">
              <a:off x="329585" y="312018"/>
              <a:ext cx="568751" cy="603886"/>
            </a:xfrm>
            <a:custGeom>
              <a:avLst/>
              <a:gdLst/>
              <a:ahLst/>
              <a:cxnLst/>
              <a:rect r="r" b="b" t="t" l="l"/>
              <a:pathLst>
                <a:path h="603886" w="568751">
                  <a:moveTo>
                    <a:pt x="0" y="0"/>
                  </a:moveTo>
                  <a:lnTo>
                    <a:pt x="568751" y="0"/>
                  </a:lnTo>
                  <a:lnTo>
                    <a:pt x="568751" y="603886"/>
                  </a:lnTo>
                  <a:lnTo>
                    <a:pt x="0" y="603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3188562"/>
            <a:chOff x="0" y="0"/>
            <a:chExt cx="4816593" cy="839786"/>
          </a:xfrm>
        </p:grpSpPr>
        <p:sp>
          <p:nvSpPr>
            <p:cNvPr name="Freeform 3" id="3"/>
            <p:cNvSpPr/>
            <p:nvPr/>
          </p:nvSpPr>
          <p:spPr>
            <a:xfrm flipH="false" flipV="false" rot="0">
              <a:off x="0" y="0"/>
              <a:ext cx="4816592" cy="839786"/>
            </a:xfrm>
            <a:custGeom>
              <a:avLst/>
              <a:gdLst/>
              <a:ahLst/>
              <a:cxnLst/>
              <a:rect r="r" b="b" t="t" l="l"/>
              <a:pathLst>
                <a:path h="839786" w="4816592">
                  <a:moveTo>
                    <a:pt x="0" y="0"/>
                  </a:moveTo>
                  <a:lnTo>
                    <a:pt x="4816592" y="0"/>
                  </a:lnTo>
                  <a:lnTo>
                    <a:pt x="4816592" y="839786"/>
                  </a:lnTo>
                  <a:lnTo>
                    <a:pt x="0" y="839786"/>
                  </a:lnTo>
                  <a:close/>
                </a:path>
              </a:pathLst>
            </a:custGeom>
            <a:solidFill>
              <a:srgbClr val="F5334E"/>
            </a:solidFill>
          </p:spPr>
        </p:sp>
        <p:sp>
          <p:nvSpPr>
            <p:cNvPr name="TextBox 4" id="4"/>
            <p:cNvSpPr txBox="true"/>
            <p:nvPr/>
          </p:nvSpPr>
          <p:spPr>
            <a:xfrm>
              <a:off x="0" y="-57150"/>
              <a:ext cx="4816593" cy="896936"/>
            </a:xfrm>
            <a:prstGeom prst="rect">
              <a:avLst/>
            </a:prstGeom>
          </p:spPr>
          <p:txBody>
            <a:bodyPr anchor="ctr" rtlCol="false" tIns="50800" lIns="50800" bIns="50800" rIns="50800"/>
            <a:lstStyle/>
            <a:p>
              <a:pPr algn="ctr">
                <a:lnSpc>
                  <a:spcPts val="3500"/>
                </a:lnSpc>
              </a:pPr>
            </a:p>
          </p:txBody>
        </p:sp>
      </p:grpSp>
      <p:sp>
        <p:nvSpPr>
          <p:cNvPr name="Freeform 5" id="5"/>
          <p:cNvSpPr/>
          <p:nvPr/>
        </p:nvSpPr>
        <p:spPr>
          <a:xfrm flipH="false" flipV="false" rot="0">
            <a:off x="16719766" y="1028700"/>
            <a:ext cx="539534" cy="539534"/>
          </a:xfrm>
          <a:custGeom>
            <a:avLst/>
            <a:gdLst/>
            <a:ahLst/>
            <a:cxnLst/>
            <a:rect r="r" b="b" t="t" l="l"/>
            <a:pathLst>
              <a:path h="539534" w="539534">
                <a:moveTo>
                  <a:pt x="0" y="0"/>
                </a:moveTo>
                <a:lnTo>
                  <a:pt x="539534" y="0"/>
                </a:lnTo>
                <a:lnTo>
                  <a:pt x="539534" y="539534"/>
                </a:lnTo>
                <a:lnTo>
                  <a:pt x="0" y="539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885557" y="1634909"/>
            <a:ext cx="11552933" cy="1076325"/>
          </a:xfrm>
          <a:prstGeom prst="rect">
            <a:avLst/>
          </a:prstGeom>
        </p:spPr>
        <p:txBody>
          <a:bodyPr anchor="t" rtlCol="false" tIns="0" lIns="0" bIns="0" rIns="0">
            <a:spAutoFit/>
          </a:bodyPr>
          <a:lstStyle/>
          <a:p>
            <a:pPr algn="ctr" marL="0" indent="0" lvl="0">
              <a:lnSpc>
                <a:spcPts val="7500"/>
              </a:lnSpc>
            </a:pPr>
            <a:r>
              <a:rPr lang="en-US" sz="7500" spc="-225">
                <a:solidFill>
                  <a:srgbClr val="FFFFFF"/>
                </a:solidFill>
                <a:latin typeface="Telegraf"/>
                <a:ea typeface="Telegraf"/>
                <a:cs typeface="Telegraf"/>
                <a:sym typeface="Telegraf"/>
              </a:rPr>
              <a:t>INSIGHT</a:t>
            </a:r>
          </a:p>
        </p:txBody>
      </p:sp>
      <p:sp>
        <p:nvSpPr>
          <p:cNvPr name="TextBox 7" id="7"/>
          <p:cNvSpPr txBox="true"/>
          <p:nvPr/>
        </p:nvSpPr>
        <p:spPr>
          <a:xfrm rot="0">
            <a:off x="14438490" y="8951595"/>
            <a:ext cx="2820810" cy="306705"/>
          </a:xfrm>
          <a:prstGeom prst="rect">
            <a:avLst/>
          </a:prstGeom>
        </p:spPr>
        <p:txBody>
          <a:bodyPr anchor="t" rtlCol="false" tIns="0" lIns="0" bIns="0" rIns="0">
            <a:spAutoFit/>
          </a:bodyPr>
          <a:lstStyle/>
          <a:p>
            <a:pPr algn="r">
              <a:lnSpc>
                <a:spcPts val="2520"/>
              </a:lnSpc>
            </a:pPr>
            <a:r>
              <a:rPr lang="en-US" sz="1800" u="sng">
                <a:solidFill>
                  <a:srgbClr val="022658"/>
                </a:solidFill>
                <a:latin typeface="Be Vietnam"/>
                <a:ea typeface="Be Vietnam"/>
                <a:cs typeface="Be Vietnam"/>
                <a:sym typeface="Be Vietnam"/>
                <a:hlinkClick r:id="rId4" action="ppaction://hlinksldjump"/>
              </a:rPr>
              <a:t>Back to agenda page</a:t>
            </a:r>
          </a:p>
        </p:txBody>
      </p:sp>
      <p:sp>
        <p:nvSpPr>
          <p:cNvPr name="TextBox 8" id="8"/>
          <p:cNvSpPr txBox="true"/>
          <p:nvPr/>
        </p:nvSpPr>
        <p:spPr>
          <a:xfrm rot="0">
            <a:off x="9613649" y="7784848"/>
            <a:ext cx="4824841" cy="4191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DASHBOARD : </a:t>
            </a:r>
            <a:r>
              <a:rPr lang="en-US" b="true" sz="2800" spc="126" u="sng">
                <a:solidFill>
                  <a:srgbClr val="0CC0DF"/>
                </a:solidFill>
                <a:latin typeface="Be Vietnam Ultra-Bold"/>
                <a:ea typeface="Be Vietnam Ultra-Bold"/>
                <a:cs typeface="Be Vietnam Ultra-Bold"/>
                <a:sym typeface="Be Vietnam Ultra-Bold"/>
                <a:hlinkClick r:id="rId5" tooltip="https://drive.google.com/file/d/18lj496ehv9zy17LDtY85v14pcsrEotKe/view?usp=drive_link"/>
              </a:rPr>
              <a:t>POWER BI</a:t>
            </a:r>
          </a:p>
        </p:txBody>
      </p:sp>
      <p:sp>
        <p:nvSpPr>
          <p:cNvPr name="TextBox 9" id="9"/>
          <p:cNvSpPr txBox="true"/>
          <p:nvPr/>
        </p:nvSpPr>
        <p:spPr>
          <a:xfrm rot="0">
            <a:off x="5750328" y="5422648"/>
            <a:ext cx="5019858" cy="419100"/>
          </a:xfrm>
          <a:prstGeom prst="rect">
            <a:avLst/>
          </a:prstGeom>
        </p:spPr>
        <p:txBody>
          <a:bodyPr anchor="t" rtlCol="false" tIns="0" lIns="0" bIns="0" rIns="0">
            <a:spAutoFit/>
          </a:bodyPr>
          <a:lstStyle/>
          <a:p>
            <a:pPr algn="l" marL="0" indent="0" lvl="0">
              <a:lnSpc>
                <a:spcPts val="3360"/>
              </a:lnSpc>
              <a:spcBef>
                <a:spcPct val="0"/>
              </a:spcBef>
            </a:pPr>
            <a:r>
              <a:rPr lang="en-US" b="true" sz="2800" spc="126" u="sng">
                <a:solidFill>
                  <a:srgbClr val="F5334E"/>
                </a:solidFill>
                <a:latin typeface="Be Vietnam Ultra-Bold"/>
                <a:ea typeface="Be Vietnam Ultra-Bold"/>
                <a:cs typeface="Be Vietnam Ultra-Bold"/>
                <a:sym typeface="Be Vietnam Ultra-Bold"/>
                <a:hlinkClick r:id="rId6" tooltip="https://colab.research.google.com/drive/1FvUP-gW6lqLFzDBlTJJv3s4lU3-fM1ZM?usp=drive_link"/>
              </a:rPr>
              <a:t>CODING : </a:t>
            </a:r>
            <a:r>
              <a:rPr lang="en-US" b="true" sz="2800" spc="126" u="sng">
                <a:solidFill>
                  <a:srgbClr val="0CC0DF"/>
                </a:solidFill>
                <a:latin typeface="Be Vietnam Ultra-Bold"/>
                <a:ea typeface="Be Vietnam Ultra-Bold"/>
                <a:cs typeface="Be Vietnam Ultra-Bold"/>
                <a:sym typeface="Be Vietnam Ultra-Bold"/>
                <a:hlinkClick r:id="rId7" tooltip="https://colab.research.google.com/drive/1FvUP-gW6lqLFzDBlTJJv3s4lU3-fM1ZM?usp=drive_link"/>
              </a:rPr>
              <a:t>GOOGLE COLLAB</a:t>
            </a:r>
          </a:p>
        </p:txBody>
      </p:sp>
      <p:sp>
        <p:nvSpPr>
          <p:cNvPr name="TextBox 10" id="10"/>
          <p:cNvSpPr txBox="true"/>
          <p:nvPr/>
        </p:nvSpPr>
        <p:spPr>
          <a:xfrm rot="0">
            <a:off x="3691375" y="4241548"/>
            <a:ext cx="4117906" cy="4191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RAW DATASET :</a:t>
            </a:r>
            <a:r>
              <a:rPr lang="en-US" b="true" sz="2800" spc="126" u="sng">
                <a:solidFill>
                  <a:srgbClr val="0CC0DF"/>
                </a:solidFill>
                <a:latin typeface="Be Vietnam Ultra-Bold"/>
                <a:ea typeface="Be Vietnam Ultra-Bold"/>
                <a:cs typeface="Be Vietnam Ultra-Bold"/>
                <a:sym typeface="Be Vietnam Ultra-Bold"/>
                <a:hlinkClick r:id="rId8" tooltip="https://drive.google.com/file/d/1m5JQ5TFZevkADjNL8aAg04HPG6JqCIKA/view?usp=drive_link"/>
              </a:rPr>
              <a:t>HERE </a:t>
            </a:r>
          </a:p>
        </p:txBody>
      </p:sp>
      <p:sp>
        <p:nvSpPr>
          <p:cNvPr name="TextBox 11" id="11"/>
          <p:cNvSpPr txBox="true"/>
          <p:nvPr/>
        </p:nvSpPr>
        <p:spPr>
          <a:xfrm rot="0">
            <a:off x="7420622" y="6603748"/>
            <a:ext cx="4386054" cy="4191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CLEAN DATASET :</a:t>
            </a:r>
            <a:r>
              <a:rPr lang="en-US" b="true" sz="2800" spc="126" u="sng">
                <a:solidFill>
                  <a:srgbClr val="0CC0DF"/>
                </a:solidFill>
                <a:latin typeface="Be Vietnam Ultra-Bold"/>
                <a:ea typeface="Be Vietnam Ultra-Bold"/>
                <a:cs typeface="Be Vietnam Ultra-Bold"/>
                <a:sym typeface="Be Vietnam Ultra-Bold"/>
                <a:hlinkClick r:id="rId9" tooltip="https://docs.google.com/spreadsheets/d/1LDfmgRNrh5WswnrL5aZrnuQYBCpOiQ6o/edit?usp=drive_link&amp;ouid=110947319289534655786&amp;rtpof=true&amp;sd=true"/>
              </a:rPr>
              <a:t>HERE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82013" y="450335"/>
            <a:ext cx="16723974" cy="9386330"/>
          </a:xfrm>
          <a:custGeom>
            <a:avLst/>
            <a:gdLst/>
            <a:ahLst/>
            <a:cxnLst/>
            <a:rect r="r" b="b" t="t" l="l"/>
            <a:pathLst>
              <a:path h="9386330" w="16723974">
                <a:moveTo>
                  <a:pt x="0" y="0"/>
                </a:moveTo>
                <a:lnTo>
                  <a:pt x="16723974" y="0"/>
                </a:lnTo>
                <a:lnTo>
                  <a:pt x="16723974" y="9386330"/>
                </a:lnTo>
                <a:lnTo>
                  <a:pt x="0" y="9386330"/>
                </a:lnTo>
                <a:lnTo>
                  <a:pt x="0" y="0"/>
                </a:lnTo>
                <a:close/>
              </a:path>
            </a:pathLst>
          </a:custGeom>
          <a:blipFill>
            <a:blip r:embed="rId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80598"/>
            <a:ext cx="18288000" cy="3981460"/>
          </a:xfrm>
          <a:custGeom>
            <a:avLst/>
            <a:gdLst/>
            <a:ahLst/>
            <a:cxnLst/>
            <a:rect r="r" b="b" t="t" l="l"/>
            <a:pathLst>
              <a:path h="3981460" w="18288000">
                <a:moveTo>
                  <a:pt x="0" y="0"/>
                </a:moveTo>
                <a:lnTo>
                  <a:pt x="18288000" y="0"/>
                </a:lnTo>
                <a:lnTo>
                  <a:pt x="18288000" y="3981460"/>
                </a:lnTo>
                <a:lnTo>
                  <a:pt x="0" y="3981460"/>
                </a:lnTo>
                <a:lnTo>
                  <a:pt x="0" y="0"/>
                </a:lnTo>
                <a:close/>
              </a:path>
            </a:pathLst>
          </a:custGeom>
          <a:blipFill>
            <a:blip r:embed="rId2"/>
            <a:stretch>
              <a:fillRect l="0" t="-95225" r="0" b="-110802"/>
            </a:stretch>
          </a:blipFill>
        </p:spPr>
      </p:sp>
      <p:grpSp>
        <p:nvGrpSpPr>
          <p:cNvPr name="Group 3" id="3"/>
          <p:cNvGrpSpPr/>
          <p:nvPr/>
        </p:nvGrpSpPr>
        <p:grpSpPr>
          <a:xfrm rot="0">
            <a:off x="1028700" y="4162058"/>
            <a:ext cx="4823975" cy="1696204"/>
            <a:chOff x="0" y="0"/>
            <a:chExt cx="1270512" cy="446737"/>
          </a:xfrm>
        </p:grpSpPr>
        <p:sp>
          <p:nvSpPr>
            <p:cNvPr name="Freeform 4" id="4"/>
            <p:cNvSpPr/>
            <p:nvPr/>
          </p:nvSpPr>
          <p:spPr>
            <a:xfrm flipH="false" flipV="false" rot="0">
              <a:off x="0" y="0"/>
              <a:ext cx="1270512" cy="446737"/>
            </a:xfrm>
            <a:custGeom>
              <a:avLst/>
              <a:gdLst/>
              <a:ahLst/>
              <a:cxnLst/>
              <a:rect r="r" b="b" t="t" l="l"/>
              <a:pathLst>
                <a:path h="446737" w="1270512">
                  <a:moveTo>
                    <a:pt x="0" y="0"/>
                  </a:moveTo>
                  <a:lnTo>
                    <a:pt x="1270512" y="0"/>
                  </a:lnTo>
                  <a:lnTo>
                    <a:pt x="1270512" y="446737"/>
                  </a:lnTo>
                  <a:lnTo>
                    <a:pt x="0" y="446737"/>
                  </a:lnTo>
                  <a:close/>
                </a:path>
              </a:pathLst>
            </a:custGeom>
            <a:solidFill>
              <a:srgbClr val="F5334E"/>
            </a:solidFill>
          </p:spPr>
        </p:sp>
        <p:sp>
          <p:nvSpPr>
            <p:cNvPr name="TextBox 5" id="5"/>
            <p:cNvSpPr txBox="true"/>
            <p:nvPr/>
          </p:nvSpPr>
          <p:spPr>
            <a:xfrm>
              <a:off x="0" y="-171450"/>
              <a:ext cx="1270512" cy="618187"/>
            </a:xfrm>
            <a:prstGeom prst="rect">
              <a:avLst/>
            </a:prstGeom>
          </p:spPr>
          <p:txBody>
            <a:bodyPr anchor="ctr" rtlCol="false" tIns="50800" lIns="50800" bIns="50800" rIns="50800"/>
            <a:lstStyle/>
            <a:p>
              <a:pPr algn="ctr">
                <a:lnSpc>
                  <a:spcPts val="7699"/>
                </a:lnSpc>
              </a:pPr>
            </a:p>
          </p:txBody>
        </p:sp>
      </p:grpSp>
      <p:grpSp>
        <p:nvGrpSpPr>
          <p:cNvPr name="Group 6" id="6"/>
          <p:cNvGrpSpPr/>
          <p:nvPr/>
        </p:nvGrpSpPr>
        <p:grpSpPr>
          <a:xfrm rot="0">
            <a:off x="6729633" y="4162058"/>
            <a:ext cx="4823975" cy="1696204"/>
            <a:chOff x="0" y="0"/>
            <a:chExt cx="1270512" cy="446737"/>
          </a:xfrm>
        </p:grpSpPr>
        <p:sp>
          <p:nvSpPr>
            <p:cNvPr name="Freeform 7" id="7"/>
            <p:cNvSpPr/>
            <p:nvPr/>
          </p:nvSpPr>
          <p:spPr>
            <a:xfrm flipH="false" flipV="false" rot="0">
              <a:off x="0" y="0"/>
              <a:ext cx="1270512" cy="446737"/>
            </a:xfrm>
            <a:custGeom>
              <a:avLst/>
              <a:gdLst/>
              <a:ahLst/>
              <a:cxnLst/>
              <a:rect r="r" b="b" t="t" l="l"/>
              <a:pathLst>
                <a:path h="446737" w="1270512">
                  <a:moveTo>
                    <a:pt x="0" y="0"/>
                  </a:moveTo>
                  <a:lnTo>
                    <a:pt x="1270512" y="0"/>
                  </a:lnTo>
                  <a:lnTo>
                    <a:pt x="1270512" y="446737"/>
                  </a:lnTo>
                  <a:lnTo>
                    <a:pt x="0" y="446737"/>
                  </a:lnTo>
                  <a:close/>
                </a:path>
              </a:pathLst>
            </a:custGeom>
            <a:solidFill>
              <a:srgbClr val="F5334E"/>
            </a:solidFill>
          </p:spPr>
        </p:sp>
        <p:sp>
          <p:nvSpPr>
            <p:cNvPr name="TextBox 8" id="8"/>
            <p:cNvSpPr txBox="true"/>
            <p:nvPr/>
          </p:nvSpPr>
          <p:spPr>
            <a:xfrm>
              <a:off x="0" y="-171450"/>
              <a:ext cx="1270512" cy="618187"/>
            </a:xfrm>
            <a:prstGeom prst="rect">
              <a:avLst/>
            </a:prstGeom>
          </p:spPr>
          <p:txBody>
            <a:bodyPr anchor="ctr" rtlCol="false" tIns="50800" lIns="50800" bIns="50800" rIns="50800"/>
            <a:lstStyle/>
            <a:p>
              <a:pPr algn="ctr">
                <a:lnSpc>
                  <a:spcPts val="7699"/>
                </a:lnSpc>
              </a:pPr>
            </a:p>
          </p:txBody>
        </p:sp>
      </p:grpSp>
      <p:grpSp>
        <p:nvGrpSpPr>
          <p:cNvPr name="Group 9" id="9"/>
          <p:cNvGrpSpPr/>
          <p:nvPr/>
        </p:nvGrpSpPr>
        <p:grpSpPr>
          <a:xfrm rot="0">
            <a:off x="12429908" y="4162058"/>
            <a:ext cx="4823975" cy="1696204"/>
            <a:chOff x="0" y="0"/>
            <a:chExt cx="1270512" cy="446737"/>
          </a:xfrm>
        </p:grpSpPr>
        <p:sp>
          <p:nvSpPr>
            <p:cNvPr name="Freeform 10" id="10"/>
            <p:cNvSpPr/>
            <p:nvPr/>
          </p:nvSpPr>
          <p:spPr>
            <a:xfrm flipH="false" flipV="false" rot="0">
              <a:off x="0" y="0"/>
              <a:ext cx="1270512" cy="446737"/>
            </a:xfrm>
            <a:custGeom>
              <a:avLst/>
              <a:gdLst/>
              <a:ahLst/>
              <a:cxnLst/>
              <a:rect r="r" b="b" t="t" l="l"/>
              <a:pathLst>
                <a:path h="446737" w="1270512">
                  <a:moveTo>
                    <a:pt x="0" y="0"/>
                  </a:moveTo>
                  <a:lnTo>
                    <a:pt x="1270512" y="0"/>
                  </a:lnTo>
                  <a:lnTo>
                    <a:pt x="1270512" y="446737"/>
                  </a:lnTo>
                  <a:lnTo>
                    <a:pt x="0" y="446737"/>
                  </a:lnTo>
                  <a:close/>
                </a:path>
              </a:pathLst>
            </a:custGeom>
            <a:solidFill>
              <a:srgbClr val="F5334E"/>
            </a:solidFill>
          </p:spPr>
        </p:sp>
        <p:sp>
          <p:nvSpPr>
            <p:cNvPr name="TextBox 11" id="11"/>
            <p:cNvSpPr txBox="true"/>
            <p:nvPr/>
          </p:nvSpPr>
          <p:spPr>
            <a:xfrm>
              <a:off x="0" y="-171450"/>
              <a:ext cx="1270512" cy="618187"/>
            </a:xfrm>
            <a:prstGeom prst="rect">
              <a:avLst/>
            </a:prstGeom>
          </p:spPr>
          <p:txBody>
            <a:bodyPr anchor="ctr" rtlCol="false" tIns="50800" lIns="50800" bIns="50800" rIns="50800"/>
            <a:lstStyle/>
            <a:p>
              <a:pPr algn="ctr">
                <a:lnSpc>
                  <a:spcPts val="7699"/>
                </a:lnSpc>
              </a:pPr>
            </a:p>
          </p:txBody>
        </p:sp>
      </p:grpSp>
      <p:sp>
        <p:nvSpPr>
          <p:cNvPr name="Freeform 12" id="12"/>
          <p:cNvSpPr/>
          <p:nvPr/>
        </p:nvSpPr>
        <p:spPr>
          <a:xfrm flipH="false" flipV="false" rot="0">
            <a:off x="1814670" y="4263670"/>
            <a:ext cx="3252034" cy="1492979"/>
          </a:xfrm>
          <a:custGeom>
            <a:avLst/>
            <a:gdLst/>
            <a:ahLst/>
            <a:cxnLst/>
            <a:rect r="r" b="b" t="t" l="l"/>
            <a:pathLst>
              <a:path h="1492979" w="3252034">
                <a:moveTo>
                  <a:pt x="0" y="0"/>
                </a:moveTo>
                <a:lnTo>
                  <a:pt x="3252034" y="0"/>
                </a:lnTo>
                <a:lnTo>
                  <a:pt x="3252034" y="1492980"/>
                </a:lnTo>
                <a:lnTo>
                  <a:pt x="0" y="1492980"/>
                </a:lnTo>
                <a:lnTo>
                  <a:pt x="0" y="0"/>
                </a:lnTo>
                <a:close/>
              </a:path>
            </a:pathLst>
          </a:custGeom>
          <a:blipFill>
            <a:blip r:embed="rId3"/>
            <a:stretch>
              <a:fillRect l="0" t="0" r="0" b="0"/>
            </a:stretch>
          </a:blipFill>
        </p:spPr>
      </p:sp>
      <p:sp>
        <p:nvSpPr>
          <p:cNvPr name="Freeform 13" id="13"/>
          <p:cNvSpPr/>
          <p:nvPr/>
        </p:nvSpPr>
        <p:spPr>
          <a:xfrm flipH="false" flipV="false" rot="0">
            <a:off x="7422063" y="4274272"/>
            <a:ext cx="3438457" cy="1514183"/>
          </a:xfrm>
          <a:custGeom>
            <a:avLst/>
            <a:gdLst/>
            <a:ahLst/>
            <a:cxnLst/>
            <a:rect r="r" b="b" t="t" l="l"/>
            <a:pathLst>
              <a:path h="1514183" w="3438457">
                <a:moveTo>
                  <a:pt x="0" y="0"/>
                </a:moveTo>
                <a:lnTo>
                  <a:pt x="3438457" y="0"/>
                </a:lnTo>
                <a:lnTo>
                  <a:pt x="3438457" y="1514183"/>
                </a:lnTo>
                <a:lnTo>
                  <a:pt x="0" y="1514183"/>
                </a:lnTo>
                <a:lnTo>
                  <a:pt x="0" y="0"/>
                </a:lnTo>
                <a:close/>
              </a:path>
            </a:pathLst>
          </a:custGeom>
          <a:blipFill>
            <a:blip r:embed="rId4"/>
            <a:stretch>
              <a:fillRect l="0" t="0" r="0" b="0"/>
            </a:stretch>
          </a:blipFill>
        </p:spPr>
      </p:sp>
      <p:sp>
        <p:nvSpPr>
          <p:cNvPr name="Freeform 14" id="14"/>
          <p:cNvSpPr/>
          <p:nvPr/>
        </p:nvSpPr>
        <p:spPr>
          <a:xfrm flipH="false" flipV="false" rot="0">
            <a:off x="12901023" y="4274272"/>
            <a:ext cx="3881746" cy="1492979"/>
          </a:xfrm>
          <a:custGeom>
            <a:avLst/>
            <a:gdLst/>
            <a:ahLst/>
            <a:cxnLst/>
            <a:rect r="r" b="b" t="t" l="l"/>
            <a:pathLst>
              <a:path h="1492979" w="3881746">
                <a:moveTo>
                  <a:pt x="0" y="0"/>
                </a:moveTo>
                <a:lnTo>
                  <a:pt x="3881746" y="0"/>
                </a:lnTo>
                <a:lnTo>
                  <a:pt x="3881746" y="1492979"/>
                </a:lnTo>
                <a:lnTo>
                  <a:pt x="0" y="1492979"/>
                </a:lnTo>
                <a:lnTo>
                  <a:pt x="0" y="0"/>
                </a:lnTo>
                <a:close/>
              </a:path>
            </a:pathLst>
          </a:custGeom>
          <a:blipFill>
            <a:blip r:embed="rId5"/>
            <a:stretch>
              <a:fillRect l="0" t="0" r="0" b="0"/>
            </a:stretch>
          </a:blipFill>
        </p:spPr>
      </p:sp>
      <p:sp>
        <p:nvSpPr>
          <p:cNvPr name="TextBox 15" id="15"/>
          <p:cNvSpPr txBox="true"/>
          <p:nvPr/>
        </p:nvSpPr>
        <p:spPr>
          <a:xfrm rot="0">
            <a:off x="14433073" y="8951595"/>
            <a:ext cx="2820810" cy="306705"/>
          </a:xfrm>
          <a:prstGeom prst="rect">
            <a:avLst/>
          </a:prstGeom>
        </p:spPr>
        <p:txBody>
          <a:bodyPr anchor="t" rtlCol="false" tIns="0" lIns="0" bIns="0" rIns="0">
            <a:spAutoFit/>
          </a:bodyPr>
          <a:lstStyle/>
          <a:p>
            <a:pPr algn="r">
              <a:lnSpc>
                <a:spcPts val="2520"/>
              </a:lnSpc>
            </a:pPr>
            <a:r>
              <a:rPr lang="en-US" sz="1800" u="sng">
                <a:solidFill>
                  <a:srgbClr val="022658"/>
                </a:solidFill>
                <a:latin typeface="Be Vietnam"/>
                <a:ea typeface="Be Vietnam"/>
                <a:cs typeface="Be Vietnam"/>
                <a:sym typeface="Be Vietnam"/>
                <a:hlinkClick r:id="rId6" action="ppaction://hlinksldjump"/>
              </a:rPr>
              <a:t>Back to agenda page</a:t>
            </a:r>
          </a:p>
        </p:txBody>
      </p:sp>
      <p:sp>
        <p:nvSpPr>
          <p:cNvPr name="TextBox 16" id="16"/>
          <p:cNvSpPr txBox="true"/>
          <p:nvPr/>
        </p:nvSpPr>
        <p:spPr>
          <a:xfrm rot="0">
            <a:off x="1028700" y="6388008"/>
            <a:ext cx="4823975" cy="869950"/>
          </a:xfrm>
          <a:prstGeom prst="rect">
            <a:avLst/>
          </a:prstGeom>
        </p:spPr>
        <p:txBody>
          <a:bodyPr anchor="t" rtlCol="false" tIns="0" lIns="0" bIns="0" rIns="0">
            <a:spAutoFit/>
          </a:bodyPr>
          <a:lstStyle/>
          <a:p>
            <a:pPr algn="ctr" marL="0" indent="0" lvl="1">
              <a:lnSpc>
                <a:spcPts val="3500"/>
              </a:lnSpc>
              <a:spcBef>
                <a:spcPct val="0"/>
              </a:spcBef>
            </a:pPr>
            <a:r>
              <a:rPr lang="en-US" sz="2500">
                <a:solidFill>
                  <a:srgbClr val="022658"/>
                </a:solidFill>
                <a:latin typeface="Be Vietnam"/>
                <a:ea typeface="Be Vietnam"/>
                <a:cs typeface="Be Vietnam"/>
                <a:sym typeface="Be Vietnam"/>
              </a:rPr>
              <a:t>Total Penjualan tahun 2024-2025 adalah 142,35K.</a:t>
            </a:r>
          </a:p>
        </p:txBody>
      </p:sp>
      <p:sp>
        <p:nvSpPr>
          <p:cNvPr name="TextBox 17" id="17"/>
          <p:cNvSpPr txBox="true"/>
          <p:nvPr/>
        </p:nvSpPr>
        <p:spPr>
          <a:xfrm rot="0">
            <a:off x="6732013" y="6388008"/>
            <a:ext cx="4823975" cy="869950"/>
          </a:xfrm>
          <a:prstGeom prst="rect">
            <a:avLst/>
          </a:prstGeom>
        </p:spPr>
        <p:txBody>
          <a:bodyPr anchor="t" rtlCol="false" tIns="0" lIns="0" bIns="0" rIns="0">
            <a:spAutoFit/>
          </a:bodyPr>
          <a:lstStyle/>
          <a:p>
            <a:pPr algn="ctr" marL="0" indent="0" lvl="1">
              <a:lnSpc>
                <a:spcPts val="3500"/>
              </a:lnSpc>
              <a:spcBef>
                <a:spcPct val="0"/>
              </a:spcBef>
            </a:pPr>
            <a:r>
              <a:rPr lang="en-US" sz="2500">
                <a:solidFill>
                  <a:srgbClr val="022658"/>
                </a:solidFill>
                <a:latin typeface="Be Vietnam"/>
                <a:ea typeface="Be Vietnam"/>
                <a:cs typeface="Be Vietnam"/>
                <a:sym typeface="Be Vietnam"/>
              </a:rPr>
              <a:t>Rata-rata Customer Rating adalah 2,98.</a:t>
            </a:r>
          </a:p>
        </p:txBody>
      </p:sp>
      <p:sp>
        <p:nvSpPr>
          <p:cNvPr name="TextBox 18" id="18"/>
          <p:cNvSpPr txBox="true"/>
          <p:nvPr/>
        </p:nvSpPr>
        <p:spPr>
          <a:xfrm rot="0">
            <a:off x="12429908" y="6388008"/>
            <a:ext cx="4823975" cy="869950"/>
          </a:xfrm>
          <a:prstGeom prst="rect">
            <a:avLst/>
          </a:prstGeom>
        </p:spPr>
        <p:txBody>
          <a:bodyPr anchor="t" rtlCol="false" tIns="0" lIns="0" bIns="0" rIns="0">
            <a:spAutoFit/>
          </a:bodyPr>
          <a:lstStyle/>
          <a:p>
            <a:pPr algn="ctr" marL="0" indent="0" lvl="1">
              <a:lnSpc>
                <a:spcPts val="3500"/>
              </a:lnSpc>
              <a:spcBef>
                <a:spcPct val="0"/>
              </a:spcBef>
            </a:pPr>
            <a:r>
              <a:rPr lang="en-US" sz="2500">
                <a:solidFill>
                  <a:srgbClr val="022658"/>
                </a:solidFill>
                <a:latin typeface="Be Vietnam"/>
                <a:ea typeface="Be Vietnam"/>
                <a:cs typeface="Be Vietnam"/>
                <a:sym typeface="Be Vietnam"/>
              </a:rPr>
              <a:t>Presentase return produk adalah 0,15.</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7457002" cy="10287000"/>
            <a:chOff x="0" y="0"/>
            <a:chExt cx="1963984" cy="2709333"/>
          </a:xfrm>
        </p:grpSpPr>
        <p:sp>
          <p:nvSpPr>
            <p:cNvPr name="Freeform 3" id="3"/>
            <p:cNvSpPr/>
            <p:nvPr/>
          </p:nvSpPr>
          <p:spPr>
            <a:xfrm flipH="false" flipV="false" rot="0">
              <a:off x="0" y="0"/>
              <a:ext cx="1963984" cy="2709333"/>
            </a:xfrm>
            <a:custGeom>
              <a:avLst/>
              <a:gdLst/>
              <a:ahLst/>
              <a:cxnLst/>
              <a:rect r="r" b="b" t="t" l="l"/>
              <a:pathLst>
                <a:path h="2709333" w="1963984">
                  <a:moveTo>
                    <a:pt x="0" y="0"/>
                  </a:moveTo>
                  <a:lnTo>
                    <a:pt x="1963984" y="0"/>
                  </a:lnTo>
                  <a:lnTo>
                    <a:pt x="1963984" y="2709333"/>
                  </a:lnTo>
                  <a:lnTo>
                    <a:pt x="0" y="2709333"/>
                  </a:lnTo>
                  <a:close/>
                </a:path>
              </a:pathLst>
            </a:custGeom>
            <a:solidFill>
              <a:srgbClr val="F5334E"/>
            </a:solidFill>
          </p:spPr>
        </p:sp>
        <p:sp>
          <p:nvSpPr>
            <p:cNvPr name="TextBox 4" id="4"/>
            <p:cNvSpPr txBox="true"/>
            <p:nvPr/>
          </p:nvSpPr>
          <p:spPr>
            <a:xfrm>
              <a:off x="0" y="-57150"/>
              <a:ext cx="1963984" cy="2766483"/>
            </a:xfrm>
            <a:prstGeom prst="rect">
              <a:avLst/>
            </a:prstGeom>
          </p:spPr>
          <p:txBody>
            <a:bodyPr anchor="ctr" rtlCol="false" tIns="50800" lIns="50800" bIns="50800" rIns="50800"/>
            <a:lstStyle/>
            <a:p>
              <a:pPr algn="ctr">
                <a:lnSpc>
                  <a:spcPts val="3500"/>
                </a:lnSpc>
              </a:pPr>
            </a:p>
          </p:txBody>
        </p:sp>
      </p:grpSp>
      <p:sp>
        <p:nvSpPr>
          <p:cNvPr name="Freeform 5" id="5"/>
          <p:cNvSpPr/>
          <p:nvPr/>
        </p:nvSpPr>
        <p:spPr>
          <a:xfrm flipH="false" flipV="false" rot="0">
            <a:off x="9391260" y="2110671"/>
            <a:ext cx="6965992" cy="5192158"/>
          </a:xfrm>
          <a:custGeom>
            <a:avLst/>
            <a:gdLst/>
            <a:ahLst/>
            <a:cxnLst/>
            <a:rect r="r" b="b" t="t" l="l"/>
            <a:pathLst>
              <a:path h="5192158" w="6965992">
                <a:moveTo>
                  <a:pt x="0" y="0"/>
                </a:moveTo>
                <a:lnTo>
                  <a:pt x="6965992" y="0"/>
                </a:lnTo>
                <a:lnTo>
                  <a:pt x="6965992" y="5192158"/>
                </a:lnTo>
                <a:lnTo>
                  <a:pt x="0" y="5192158"/>
                </a:lnTo>
                <a:lnTo>
                  <a:pt x="0" y="0"/>
                </a:lnTo>
                <a:close/>
              </a:path>
            </a:pathLst>
          </a:custGeom>
          <a:blipFill>
            <a:blip r:embed="rId2"/>
            <a:stretch>
              <a:fillRect l="0" t="0" r="0" b="0"/>
            </a:stretch>
          </a:blipFill>
        </p:spPr>
      </p:sp>
      <p:sp>
        <p:nvSpPr>
          <p:cNvPr name="TextBox 6" id="6"/>
          <p:cNvSpPr txBox="true"/>
          <p:nvPr/>
        </p:nvSpPr>
        <p:spPr>
          <a:xfrm rot="0">
            <a:off x="1124182" y="1895475"/>
            <a:ext cx="5208638" cy="1984375"/>
          </a:xfrm>
          <a:prstGeom prst="rect">
            <a:avLst/>
          </a:prstGeom>
        </p:spPr>
        <p:txBody>
          <a:bodyPr anchor="t" rtlCol="false" tIns="0" lIns="0" bIns="0" rIns="0">
            <a:spAutoFit/>
          </a:bodyPr>
          <a:lstStyle/>
          <a:p>
            <a:pPr algn="l" marL="0" indent="0" lvl="0">
              <a:lnSpc>
                <a:spcPts val="5000"/>
              </a:lnSpc>
            </a:pPr>
            <a:r>
              <a:rPr lang="en-US" sz="5000" spc="-150">
                <a:solidFill>
                  <a:srgbClr val="FFFFFF"/>
                </a:solidFill>
                <a:latin typeface="Telegraf"/>
                <a:ea typeface="Telegraf"/>
                <a:cs typeface="Telegraf"/>
                <a:sym typeface="Telegraf"/>
              </a:rPr>
              <a:t>APA KATEGORI YANG PALING DIMINATI?</a:t>
            </a:r>
          </a:p>
        </p:txBody>
      </p:sp>
      <p:sp>
        <p:nvSpPr>
          <p:cNvPr name="TextBox 7" id="7"/>
          <p:cNvSpPr txBox="true"/>
          <p:nvPr/>
        </p:nvSpPr>
        <p:spPr>
          <a:xfrm rot="0">
            <a:off x="1028700" y="5418360"/>
            <a:ext cx="5670350" cy="1406525"/>
          </a:xfrm>
          <a:prstGeom prst="rect">
            <a:avLst/>
          </a:prstGeom>
        </p:spPr>
        <p:txBody>
          <a:bodyPr anchor="t" rtlCol="false" tIns="0" lIns="0" bIns="0" rIns="0">
            <a:spAutoFit/>
          </a:bodyPr>
          <a:lstStyle/>
          <a:p>
            <a:pPr algn="just" marL="0" indent="0" lvl="1">
              <a:lnSpc>
                <a:spcPts val="2800"/>
              </a:lnSpc>
              <a:spcBef>
                <a:spcPct val="0"/>
              </a:spcBef>
            </a:pPr>
            <a:r>
              <a:rPr lang="en-US" sz="2000">
                <a:solidFill>
                  <a:srgbClr val="FFFFFF"/>
                </a:solidFill>
                <a:latin typeface="Be Vietnam"/>
                <a:ea typeface="Be Vietnam"/>
                <a:cs typeface="Be Vietnam"/>
                <a:sym typeface="Be Vietnam"/>
              </a:rPr>
              <a:t>Kategori yang paling diminati adalah Shoes (22,96%) diikuti kategori pakaian (Outwear-Dresses-Bottoms-Tops) dan di posisi terakhir adalah kategori aksesoris (10,58%).</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0"/>
            <a:ext cx="9144000" cy="10287000"/>
            <a:chOff x="0" y="0"/>
            <a:chExt cx="2408296" cy="2709333"/>
          </a:xfrm>
        </p:grpSpPr>
        <p:sp>
          <p:nvSpPr>
            <p:cNvPr name="Freeform 3" id="3"/>
            <p:cNvSpPr/>
            <p:nvPr/>
          </p:nvSpPr>
          <p:spPr>
            <a:xfrm flipH="false" flipV="false" rot="0">
              <a:off x="0" y="0"/>
              <a:ext cx="2408296" cy="2709333"/>
            </a:xfrm>
            <a:custGeom>
              <a:avLst/>
              <a:gdLst/>
              <a:ahLst/>
              <a:cxnLst/>
              <a:rect r="r" b="b" t="t" l="l"/>
              <a:pathLst>
                <a:path h="2709333" w="2408296">
                  <a:moveTo>
                    <a:pt x="0" y="0"/>
                  </a:moveTo>
                  <a:lnTo>
                    <a:pt x="2408296" y="0"/>
                  </a:lnTo>
                  <a:lnTo>
                    <a:pt x="2408296" y="2709333"/>
                  </a:lnTo>
                  <a:lnTo>
                    <a:pt x="0" y="2709333"/>
                  </a:lnTo>
                  <a:close/>
                </a:path>
              </a:pathLst>
            </a:custGeom>
            <a:solidFill>
              <a:srgbClr val="F5334E"/>
            </a:solidFill>
          </p:spPr>
        </p:sp>
        <p:sp>
          <p:nvSpPr>
            <p:cNvPr name="TextBox 4" id="4"/>
            <p:cNvSpPr txBox="true"/>
            <p:nvPr/>
          </p:nvSpPr>
          <p:spPr>
            <a:xfrm>
              <a:off x="0" y="-57150"/>
              <a:ext cx="2408296" cy="2766483"/>
            </a:xfrm>
            <a:prstGeom prst="rect">
              <a:avLst/>
            </a:prstGeom>
          </p:spPr>
          <p:txBody>
            <a:bodyPr anchor="ctr" rtlCol="false" tIns="50800" lIns="50800" bIns="50800" rIns="50800"/>
            <a:lstStyle/>
            <a:p>
              <a:pPr algn="ctr">
                <a:lnSpc>
                  <a:spcPts val="3500"/>
                </a:lnSpc>
              </a:pPr>
            </a:p>
          </p:txBody>
        </p:sp>
      </p:grpSp>
      <p:sp>
        <p:nvSpPr>
          <p:cNvPr name="Freeform 5" id="5"/>
          <p:cNvSpPr/>
          <p:nvPr/>
        </p:nvSpPr>
        <p:spPr>
          <a:xfrm flipH="false" flipV="false" rot="0">
            <a:off x="16719766" y="1028700"/>
            <a:ext cx="539534" cy="539534"/>
          </a:xfrm>
          <a:custGeom>
            <a:avLst/>
            <a:gdLst/>
            <a:ahLst/>
            <a:cxnLst/>
            <a:rect r="r" b="b" t="t" l="l"/>
            <a:pathLst>
              <a:path h="539534" w="539534">
                <a:moveTo>
                  <a:pt x="0" y="0"/>
                </a:moveTo>
                <a:lnTo>
                  <a:pt x="539534" y="0"/>
                </a:lnTo>
                <a:lnTo>
                  <a:pt x="539534" y="539534"/>
                </a:lnTo>
                <a:lnTo>
                  <a:pt x="0" y="539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584707" y="2865737"/>
            <a:ext cx="8099062" cy="5189330"/>
          </a:xfrm>
          <a:custGeom>
            <a:avLst/>
            <a:gdLst/>
            <a:ahLst/>
            <a:cxnLst/>
            <a:rect r="r" b="b" t="t" l="l"/>
            <a:pathLst>
              <a:path h="5189330" w="8099062">
                <a:moveTo>
                  <a:pt x="0" y="0"/>
                </a:moveTo>
                <a:lnTo>
                  <a:pt x="8099062" y="0"/>
                </a:lnTo>
                <a:lnTo>
                  <a:pt x="8099062" y="5189330"/>
                </a:lnTo>
                <a:lnTo>
                  <a:pt x="0" y="5189330"/>
                </a:lnTo>
                <a:lnTo>
                  <a:pt x="0" y="0"/>
                </a:lnTo>
                <a:close/>
              </a:path>
            </a:pathLst>
          </a:custGeom>
          <a:blipFill>
            <a:blip r:embed="rId4"/>
            <a:stretch>
              <a:fillRect l="0" t="0" r="0" b="0"/>
            </a:stretch>
          </a:blipFill>
        </p:spPr>
      </p:sp>
      <p:sp>
        <p:nvSpPr>
          <p:cNvPr name="TextBox 7" id="7"/>
          <p:cNvSpPr txBox="true"/>
          <p:nvPr/>
        </p:nvSpPr>
        <p:spPr>
          <a:xfrm rot="0">
            <a:off x="10478603" y="2582697"/>
            <a:ext cx="6474794" cy="2400300"/>
          </a:xfrm>
          <a:prstGeom prst="rect">
            <a:avLst/>
          </a:prstGeom>
        </p:spPr>
        <p:txBody>
          <a:bodyPr anchor="t" rtlCol="false" tIns="0" lIns="0" bIns="0" rIns="0">
            <a:spAutoFit/>
          </a:bodyPr>
          <a:lstStyle/>
          <a:p>
            <a:pPr algn="l" marL="0" indent="0" lvl="0">
              <a:lnSpc>
                <a:spcPts val="6000"/>
              </a:lnSpc>
            </a:pPr>
            <a:r>
              <a:rPr lang="en-US" sz="6000" spc="-179">
                <a:solidFill>
                  <a:srgbClr val="FFFFFF"/>
                </a:solidFill>
                <a:latin typeface="Telegraf"/>
                <a:ea typeface="Telegraf"/>
                <a:cs typeface="Telegraf"/>
                <a:sym typeface="Telegraf"/>
              </a:rPr>
              <a:t>BRAND APA YANG PALING DIMINATI?</a:t>
            </a:r>
          </a:p>
        </p:txBody>
      </p:sp>
      <p:sp>
        <p:nvSpPr>
          <p:cNvPr name="TextBox 8" id="8"/>
          <p:cNvSpPr txBox="true"/>
          <p:nvPr/>
        </p:nvSpPr>
        <p:spPr>
          <a:xfrm rot="0">
            <a:off x="10478603" y="6003410"/>
            <a:ext cx="6474794" cy="1406525"/>
          </a:xfrm>
          <a:prstGeom prst="rect">
            <a:avLst/>
          </a:prstGeom>
        </p:spPr>
        <p:txBody>
          <a:bodyPr anchor="t" rtlCol="false" tIns="0" lIns="0" bIns="0" rIns="0">
            <a:spAutoFit/>
          </a:bodyPr>
          <a:lstStyle/>
          <a:p>
            <a:pPr algn="just" marL="0" indent="0" lvl="1">
              <a:lnSpc>
                <a:spcPts val="2800"/>
              </a:lnSpc>
              <a:spcBef>
                <a:spcPct val="0"/>
              </a:spcBef>
            </a:pPr>
            <a:r>
              <a:rPr lang="en-US" sz="2000">
                <a:solidFill>
                  <a:srgbClr val="FFFFFF"/>
                </a:solidFill>
                <a:latin typeface="Be Vietnam"/>
                <a:ea typeface="Be Vietnam"/>
                <a:cs typeface="Be Vietnam"/>
                <a:sym typeface="Be Vietnam"/>
              </a:rPr>
              <a:t>Brand yang paling diminati dilihat dari total penjualannya adalah Banana Republic (20,1K), diikuti Zara (20K) dan di posisi terakhir ada brand GAP (14,6K).</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7457002" cy="10287000"/>
            <a:chOff x="0" y="0"/>
            <a:chExt cx="1963984" cy="2709333"/>
          </a:xfrm>
        </p:grpSpPr>
        <p:sp>
          <p:nvSpPr>
            <p:cNvPr name="Freeform 3" id="3"/>
            <p:cNvSpPr/>
            <p:nvPr/>
          </p:nvSpPr>
          <p:spPr>
            <a:xfrm flipH="false" flipV="false" rot="0">
              <a:off x="0" y="0"/>
              <a:ext cx="1963984" cy="2709333"/>
            </a:xfrm>
            <a:custGeom>
              <a:avLst/>
              <a:gdLst/>
              <a:ahLst/>
              <a:cxnLst/>
              <a:rect r="r" b="b" t="t" l="l"/>
              <a:pathLst>
                <a:path h="2709333" w="1963984">
                  <a:moveTo>
                    <a:pt x="0" y="0"/>
                  </a:moveTo>
                  <a:lnTo>
                    <a:pt x="1963984" y="0"/>
                  </a:lnTo>
                  <a:lnTo>
                    <a:pt x="1963984" y="2709333"/>
                  </a:lnTo>
                  <a:lnTo>
                    <a:pt x="0" y="2709333"/>
                  </a:lnTo>
                  <a:close/>
                </a:path>
              </a:pathLst>
            </a:custGeom>
            <a:solidFill>
              <a:srgbClr val="F5334E"/>
            </a:solidFill>
          </p:spPr>
        </p:sp>
        <p:sp>
          <p:nvSpPr>
            <p:cNvPr name="TextBox 4" id="4"/>
            <p:cNvSpPr txBox="true"/>
            <p:nvPr/>
          </p:nvSpPr>
          <p:spPr>
            <a:xfrm>
              <a:off x="0" y="-57150"/>
              <a:ext cx="1963984" cy="2766483"/>
            </a:xfrm>
            <a:prstGeom prst="rect">
              <a:avLst/>
            </a:prstGeom>
          </p:spPr>
          <p:txBody>
            <a:bodyPr anchor="ctr" rtlCol="false" tIns="50800" lIns="50800" bIns="50800" rIns="50800"/>
            <a:lstStyle/>
            <a:p>
              <a:pPr algn="ctr">
                <a:lnSpc>
                  <a:spcPts val="3500"/>
                </a:lnSpc>
              </a:pPr>
            </a:p>
          </p:txBody>
        </p:sp>
      </p:grpSp>
      <p:sp>
        <p:nvSpPr>
          <p:cNvPr name="Freeform 5" id="5"/>
          <p:cNvSpPr/>
          <p:nvPr/>
        </p:nvSpPr>
        <p:spPr>
          <a:xfrm flipH="false" flipV="false" rot="0">
            <a:off x="8747026" y="2208084"/>
            <a:ext cx="8058321" cy="5237027"/>
          </a:xfrm>
          <a:custGeom>
            <a:avLst/>
            <a:gdLst/>
            <a:ahLst/>
            <a:cxnLst/>
            <a:rect r="r" b="b" t="t" l="l"/>
            <a:pathLst>
              <a:path h="5237027" w="8058321">
                <a:moveTo>
                  <a:pt x="0" y="0"/>
                </a:moveTo>
                <a:lnTo>
                  <a:pt x="8058321" y="0"/>
                </a:lnTo>
                <a:lnTo>
                  <a:pt x="8058321" y="5237027"/>
                </a:lnTo>
                <a:lnTo>
                  <a:pt x="0" y="5237027"/>
                </a:lnTo>
                <a:lnTo>
                  <a:pt x="0" y="0"/>
                </a:lnTo>
                <a:close/>
              </a:path>
            </a:pathLst>
          </a:custGeom>
          <a:blipFill>
            <a:blip r:embed="rId2"/>
            <a:stretch>
              <a:fillRect l="0" t="0" r="0" b="0"/>
            </a:stretch>
          </a:blipFill>
        </p:spPr>
      </p:sp>
      <p:sp>
        <p:nvSpPr>
          <p:cNvPr name="TextBox 6" id="6"/>
          <p:cNvSpPr txBox="true"/>
          <p:nvPr/>
        </p:nvSpPr>
        <p:spPr>
          <a:xfrm rot="0">
            <a:off x="626478" y="5095875"/>
            <a:ext cx="5670350" cy="2111375"/>
          </a:xfrm>
          <a:prstGeom prst="rect">
            <a:avLst/>
          </a:prstGeom>
        </p:spPr>
        <p:txBody>
          <a:bodyPr anchor="t" rtlCol="false" tIns="0" lIns="0" bIns="0" rIns="0">
            <a:spAutoFit/>
          </a:bodyPr>
          <a:lstStyle/>
          <a:p>
            <a:pPr algn="just" marL="0" indent="0" lvl="1">
              <a:lnSpc>
                <a:spcPts val="2800"/>
              </a:lnSpc>
              <a:spcBef>
                <a:spcPct val="0"/>
              </a:spcBef>
            </a:pPr>
            <a:r>
              <a:rPr lang="en-US" sz="2000">
                <a:solidFill>
                  <a:srgbClr val="FFFFFF"/>
                </a:solidFill>
                <a:latin typeface="Be Vietnam"/>
                <a:ea typeface="Be Vietnam"/>
                <a:cs typeface="Be Vietnam"/>
                <a:sym typeface="Be Vietnam"/>
              </a:rPr>
              <a:t>Berdasarkan Rating yang diberikan oleh Customer, brand Uniqlo dan Ann taylor menduduki peringkat pertama dengan rata-rata sebesar 3,08. sedangkan brand Mango menjadi peringkat terakhir dengan rata-rata 2,77.</a:t>
            </a:r>
          </a:p>
        </p:txBody>
      </p:sp>
      <p:sp>
        <p:nvSpPr>
          <p:cNvPr name="TextBox 7" id="7"/>
          <p:cNvSpPr txBox="true"/>
          <p:nvPr/>
        </p:nvSpPr>
        <p:spPr>
          <a:xfrm rot="0">
            <a:off x="626478" y="440236"/>
            <a:ext cx="5670350" cy="4099329"/>
          </a:xfrm>
          <a:prstGeom prst="rect">
            <a:avLst/>
          </a:prstGeom>
        </p:spPr>
        <p:txBody>
          <a:bodyPr anchor="t" rtlCol="false" tIns="0" lIns="0" bIns="0" rIns="0">
            <a:spAutoFit/>
          </a:bodyPr>
          <a:lstStyle/>
          <a:p>
            <a:pPr algn="l" marL="0" indent="0" lvl="0">
              <a:lnSpc>
                <a:spcPts val="5254"/>
              </a:lnSpc>
            </a:pPr>
            <a:r>
              <a:rPr lang="en-US" sz="5254" spc="-157">
                <a:solidFill>
                  <a:srgbClr val="FFFFFF"/>
                </a:solidFill>
                <a:latin typeface="Telegraf"/>
                <a:ea typeface="Telegraf"/>
                <a:cs typeface="Telegraf"/>
                <a:sym typeface="Telegraf"/>
              </a:rPr>
              <a:t>BAGAIMANA PERBANDINGAN RATA-RATA RATING CUSTOMER ANTAR BRAND?</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0"/>
            <a:ext cx="9144000" cy="10287000"/>
            <a:chOff x="0" y="0"/>
            <a:chExt cx="2408296" cy="2709333"/>
          </a:xfrm>
        </p:grpSpPr>
        <p:sp>
          <p:nvSpPr>
            <p:cNvPr name="Freeform 3" id="3"/>
            <p:cNvSpPr/>
            <p:nvPr/>
          </p:nvSpPr>
          <p:spPr>
            <a:xfrm flipH="false" flipV="false" rot="0">
              <a:off x="0" y="0"/>
              <a:ext cx="2408296" cy="2709333"/>
            </a:xfrm>
            <a:custGeom>
              <a:avLst/>
              <a:gdLst/>
              <a:ahLst/>
              <a:cxnLst/>
              <a:rect r="r" b="b" t="t" l="l"/>
              <a:pathLst>
                <a:path h="2709333" w="2408296">
                  <a:moveTo>
                    <a:pt x="0" y="0"/>
                  </a:moveTo>
                  <a:lnTo>
                    <a:pt x="2408296" y="0"/>
                  </a:lnTo>
                  <a:lnTo>
                    <a:pt x="2408296" y="2709333"/>
                  </a:lnTo>
                  <a:lnTo>
                    <a:pt x="0" y="2709333"/>
                  </a:lnTo>
                  <a:close/>
                </a:path>
              </a:pathLst>
            </a:custGeom>
            <a:solidFill>
              <a:srgbClr val="F5334E"/>
            </a:solidFill>
          </p:spPr>
        </p:sp>
        <p:sp>
          <p:nvSpPr>
            <p:cNvPr name="TextBox 4" id="4"/>
            <p:cNvSpPr txBox="true"/>
            <p:nvPr/>
          </p:nvSpPr>
          <p:spPr>
            <a:xfrm>
              <a:off x="0" y="-57150"/>
              <a:ext cx="2408296" cy="2766483"/>
            </a:xfrm>
            <a:prstGeom prst="rect">
              <a:avLst/>
            </a:prstGeom>
          </p:spPr>
          <p:txBody>
            <a:bodyPr anchor="ctr" rtlCol="false" tIns="50800" lIns="50800" bIns="50800" rIns="50800"/>
            <a:lstStyle/>
            <a:p>
              <a:pPr algn="ctr">
                <a:lnSpc>
                  <a:spcPts val="3500"/>
                </a:lnSpc>
              </a:pPr>
            </a:p>
          </p:txBody>
        </p:sp>
      </p:grpSp>
      <p:sp>
        <p:nvSpPr>
          <p:cNvPr name="Freeform 5" id="5"/>
          <p:cNvSpPr/>
          <p:nvPr/>
        </p:nvSpPr>
        <p:spPr>
          <a:xfrm flipH="false" flipV="false" rot="0">
            <a:off x="16719766" y="1028700"/>
            <a:ext cx="539534" cy="539534"/>
          </a:xfrm>
          <a:custGeom>
            <a:avLst/>
            <a:gdLst/>
            <a:ahLst/>
            <a:cxnLst/>
            <a:rect r="r" b="b" t="t" l="l"/>
            <a:pathLst>
              <a:path h="539534" w="539534">
                <a:moveTo>
                  <a:pt x="0" y="0"/>
                </a:moveTo>
                <a:lnTo>
                  <a:pt x="539534" y="0"/>
                </a:lnTo>
                <a:lnTo>
                  <a:pt x="539534" y="539534"/>
                </a:lnTo>
                <a:lnTo>
                  <a:pt x="0" y="539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09297" y="2544597"/>
            <a:ext cx="8508603" cy="5248134"/>
          </a:xfrm>
          <a:custGeom>
            <a:avLst/>
            <a:gdLst/>
            <a:ahLst/>
            <a:cxnLst/>
            <a:rect r="r" b="b" t="t" l="l"/>
            <a:pathLst>
              <a:path h="5248134" w="8508603">
                <a:moveTo>
                  <a:pt x="0" y="0"/>
                </a:moveTo>
                <a:lnTo>
                  <a:pt x="8508603" y="0"/>
                </a:lnTo>
                <a:lnTo>
                  <a:pt x="8508603" y="5248134"/>
                </a:lnTo>
                <a:lnTo>
                  <a:pt x="0" y="5248134"/>
                </a:lnTo>
                <a:lnTo>
                  <a:pt x="0" y="0"/>
                </a:lnTo>
                <a:close/>
              </a:path>
            </a:pathLst>
          </a:custGeom>
          <a:blipFill>
            <a:blip r:embed="rId4"/>
            <a:stretch>
              <a:fillRect l="0" t="0" r="0" b="0"/>
            </a:stretch>
          </a:blipFill>
        </p:spPr>
      </p:sp>
      <p:sp>
        <p:nvSpPr>
          <p:cNvPr name="TextBox 7" id="7"/>
          <p:cNvSpPr txBox="true"/>
          <p:nvPr/>
        </p:nvSpPr>
        <p:spPr>
          <a:xfrm rot="0">
            <a:off x="10281838" y="650597"/>
            <a:ext cx="6868323" cy="3192187"/>
          </a:xfrm>
          <a:prstGeom prst="rect">
            <a:avLst/>
          </a:prstGeom>
        </p:spPr>
        <p:txBody>
          <a:bodyPr anchor="t" rtlCol="false" tIns="0" lIns="0" bIns="0" rIns="0">
            <a:spAutoFit/>
          </a:bodyPr>
          <a:lstStyle/>
          <a:p>
            <a:pPr algn="l" marL="0" indent="0" lvl="0">
              <a:lnSpc>
                <a:spcPts val="4891"/>
              </a:lnSpc>
            </a:pPr>
            <a:r>
              <a:rPr lang="en-US" sz="4891" spc="-146">
                <a:solidFill>
                  <a:srgbClr val="FFFFFF"/>
                </a:solidFill>
                <a:latin typeface="Telegraf"/>
                <a:ea typeface="Telegraf"/>
                <a:cs typeface="Telegraf"/>
                <a:sym typeface="Telegraf"/>
              </a:rPr>
              <a:t>BAGAIMANA TREN PERUBAHAN RATA-RATA RATING CUSTOMER PERBULANNYA?</a:t>
            </a:r>
          </a:p>
        </p:txBody>
      </p:sp>
      <p:sp>
        <p:nvSpPr>
          <p:cNvPr name="TextBox 8" id="8"/>
          <p:cNvSpPr txBox="true"/>
          <p:nvPr/>
        </p:nvSpPr>
        <p:spPr>
          <a:xfrm rot="0">
            <a:off x="10478603" y="5298560"/>
            <a:ext cx="6474794" cy="2816225"/>
          </a:xfrm>
          <a:prstGeom prst="rect">
            <a:avLst/>
          </a:prstGeom>
        </p:spPr>
        <p:txBody>
          <a:bodyPr anchor="t" rtlCol="false" tIns="0" lIns="0" bIns="0" rIns="0">
            <a:spAutoFit/>
          </a:bodyPr>
          <a:lstStyle/>
          <a:p>
            <a:pPr algn="just">
              <a:lnSpc>
                <a:spcPts val="2800"/>
              </a:lnSpc>
            </a:pPr>
            <a:r>
              <a:rPr lang="en-US" sz="2000">
                <a:solidFill>
                  <a:srgbClr val="FFFFFF"/>
                </a:solidFill>
                <a:latin typeface="Be Vietnam"/>
                <a:ea typeface="Be Vietnam"/>
                <a:cs typeface="Be Vietnam"/>
                <a:sym typeface="Be Vietnam"/>
              </a:rPr>
              <a:t>Puncak kepuasan customer terjadi di Juni dengan rata-rata (3,50) sedangkan </a:t>
            </a:r>
            <a:r>
              <a:rPr lang="en-US" sz="2000">
                <a:solidFill>
                  <a:srgbClr val="FFFFFF"/>
                </a:solidFill>
                <a:latin typeface="Be Vietnam"/>
                <a:ea typeface="Be Vietnam"/>
                <a:cs typeface="Be Vietnam"/>
                <a:sym typeface="Be Vietnam"/>
              </a:rPr>
              <a:t>Rating terendah ada di November (2,66) dan September (2,69). </a:t>
            </a:r>
          </a:p>
          <a:p>
            <a:pPr algn="just" marL="0" indent="0" lvl="1">
              <a:lnSpc>
                <a:spcPts val="2800"/>
              </a:lnSpc>
              <a:spcBef>
                <a:spcPct val="0"/>
              </a:spcBef>
            </a:pPr>
            <a:r>
              <a:rPr lang="en-US" sz="2000">
                <a:solidFill>
                  <a:srgbClr val="FFFFFF"/>
                </a:solidFill>
                <a:latin typeface="Be Vietnam"/>
                <a:ea typeface="Be Vietnam"/>
                <a:cs typeface="Be Vietnam"/>
                <a:sym typeface="Be Vietnam"/>
              </a:rPr>
              <a:t>Fluktuasi signifikan yaitu lonjakan tinggi di Juni dan penurunan bertahap hingga akhir tahun, menunjukkan bahwa kepuasan customer sangat dipengaruhi faktor musiman atau kampanye tertentu.</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2691675"/>
            <a:chOff x="0" y="0"/>
            <a:chExt cx="4816593" cy="708919"/>
          </a:xfrm>
        </p:grpSpPr>
        <p:sp>
          <p:nvSpPr>
            <p:cNvPr name="Freeform 3" id="3"/>
            <p:cNvSpPr/>
            <p:nvPr/>
          </p:nvSpPr>
          <p:spPr>
            <a:xfrm flipH="false" flipV="false" rot="0">
              <a:off x="0" y="0"/>
              <a:ext cx="4816592" cy="708919"/>
            </a:xfrm>
            <a:custGeom>
              <a:avLst/>
              <a:gdLst/>
              <a:ahLst/>
              <a:cxnLst/>
              <a:rect r="r" b="b" t="t" l="l"/>
              <a:pathLst>
                <a:path h="708919" w="4816592">
                  <a:moveTo>
                    <a:pt x="0" y="0"/>
                  </a:moveTo>
                  <a:lnTo>
                    <a:pt x="4816592" y="0"/>
                  </a:lnTo>
                  <a:lnTo>
                    <a:pt x="4816592" y="708919"/>
                  </a:lnTo>
                  <a:lnTo>
                    <a:pt x="0" y="708919"/>
                  </a:lnTo>
                  <a:close/>
                </a:path>
              </a:pathLst>
            </a:custGeom>
            <a:solidFill>
              <a:srgbClr val="F5334E"/>
            </a:solidFill>
          </p:spPr>
        </p:sp>
        <p:sp>
          <p:nvSpPr>
            <p:cNvPr name="TextBox 4" id="4"/>
            <p:cNvSpPr txBox="true"/>
            <p:nvPr/>
          </p:nvSpPr>
          <p:spPr>
            <a:xfrm>
              <a:off x="0" y="-57150"/>
              <a:ext cx="4816593" cy="766069"/>
            </a:xfrm>
            <a:prstGeom prst="rect">
              <a:avLst/>
            </a:prstGeom>
          </p:spPr>
          <p:txBody>
            <a:bodyPr anchor="ctr" rtlCol="false" tIns="50800" lIns="50800" bIns="50800" rIns="50800"/>
            <a:lstStyle/>
            <a:p>
              <a:pPr algn="ctr">
                <a:lnSpc>
                  <a:spcPts val="3500"/>
                </a:lnSpc>
              </a:pPr>
            </a:p>
          </p:txBody>
        </p:sp>
      </p:grpSp>
      <p:sp>
        <p:nvSpPr>
          <p:cNvPr name="Freeform 5" id="5"/>
          <p:cNvSpPr/>
          <p:nvPr/>
        </p:nvSpPr>
        <p:spPr>
          <a:xfrm flipH="false" flipV="false" rot="0">
            <a:off x="16719766" y="1028700"/>
            <a:ext cx="539534" cy="539534"/>
          </a:xfrm>
          <a:custGeom>
            <a:avLst/>
            <a:gdLst/>
            <a:ahLst/>
            <a:cxnLst/>
            <a:rect r="r" b="b" t="t" l="l"/>
            <a:pathLst>
              <a:path h="539534" w="539534">
                <a:moveTo>
                  <a:pt x="0" y="0"/>
                </a:moveTo>
                <a:lnTo>
                  <a:pt x="539534" y="0"/>
                </a:lnTo>
                <a:lnTo>
                  <a:pt x="539534" y="539534"/>
                </a:lnTo>
                <a:lnTo>
                  <a:pt x="0" y="539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27915" y="3800792"/>
            <a:ext cx="5165296" cy="3683878"/>
          </a:xfrm>
          <a:custGeom>
            <a:avLst/>
            <a:gdLst/>
            <a:ahLst/>
            <a:cxnLst/>
            <a:rect r="r" b="b" t="t" l="l"/>
            <a:pathLst>
              <a:path h="3683878" w="5165296">
                <a:moveTo>
                  <a:pt x="0" y="0"/>
                </a:moveTo>
                <a:lnTo>
                  <a:pt x="5165296" y="0"/>
                </a:lnTo>
                <a:lnTo>
                  <a:pt x="5165296" y="3683879"/>
                </a:lnTo>
                <a:lnTo>
                  <a:pt x="0" y="3683879"/>
                </a:lnTo>
                <a:lnTo>
                  <a:pt x="0" y="0"/>
                </a:lnTo>
                <a:close/>
              </a:path>
            </a:pathLst>
          </a:custGeom>
          <a:blipFill>
            <a:blip r:embed="rId4"/>
            <a:stretch>
              <a:fillRect l="0" t="0" r="0" b="0"/>
            </a:stretch>
          </a:blipFill>
        </p:spPr>
      </p:sp>
      <p:sp>
        <p:nvSpPr>
          <p:cNvPr name="Freeform 7" id="7"/>
          <p:cNvSpPr/>
          <p:nvPr/>
        </p:nvSpPr>
        <p:spPr>
          <a:xfrm flipH="false" flipV="false" rot="0">
            <a:off x="12308810" y="3800792"/>
            <a:ext cx="5233873" cy="3655617"/>
          </a:xfrm>
          <a:custGeom>
            <a:avLst/>
            <a:gdLst/>
            <a:ahLst/>
            <a:cxnLst/>
            <a:rect r="r" b="b" t="t" l="l"/>
            <a:pathLst>
              <a:path h="3655617" w="5233873">
                <a:moveTo>
                  <a:pt x="0" y="0"/>
                </a:moveTo>
                <a:lnTo>
                  <a:pt x="5233872" y="0"/>
                </a:lnTo>
                <a:lnTo>
                  <a:pt x="5233872" y="3655617"/>
                </a:lnTo>
                <a:lnTo>
                  <a:pt x="0" y="3655617"/>
                </a:lnTo>
                <a:lnTo>
                  <a:pt x="0" y="0"/>
                </a:lnTo>
                <a:close/>
              </a:path>
            </a:pathLst>
          </a:custGeom>
          <a:blipFill>
            <a:blip r:embed="rId5"/>
            <a:stretch>
              <a:fillRect l="0" t="0" r="0" b="0"/>
            </a:stretch>
          </a:blipFill>
        </p:spPr>
      </p:sp>
      <p:sp>
        <p:nvSpPr>
          <p:cNvPr name="Freeform 8" id="8"/>
          <p:cNvSpPr/>
          <p:nvPr/>
        </p:nvSpPr>
        <p:spPr>
          <a:xfrm flipH="false" flipV="false" rot="0">
            <a:off x="6524811" y="3781057"/>
            <a:ext cx="5252398" cy="3703614"/>
          </a:xfrm>
          <a:custGeom>
            <a:avLst/>
            <a:gdLst/>
            <a:ahLst/>
            <a:cxnLst/>
            <a:rect r="r" b="b" t="t" l="l"/>
            <a:pathLst>
              <a:path h="3703614" w="5252398">
                <a:moveTo>
                  <a:pt x="0" y="0"/>
                </a:moveTo>
                <a:lnTo>
                  <a:pt x="5252398" y="0"/>
                </a:lnTo>
                <a:lnTo>
                  <a:pt x="5252398" y="3703614"/>
                </a:lnTo>
                <a:lnTo>
                  <a:pt x="0" y="3703614"/>
                </a:lnTo>
                <a:lnTo>
                  <a:pt x="0" y="0"/>
                </a:lnTo>
                <a:close/>
              </a:path>
            </a:pathLst>
          </a:custGeom>
          <a:blipFill>
            <a:blip r:embed="rId6"/>
            <a:stretch>
              <a:fillRect l="0" t="0" r="0" b="0"/>
            </a:stretch>
          </a:blipFill>
        </p:spPr>
      </p:sp>
      <p:sp>
        <p:nvSpPr>
          <p:cNvPr name="TextBox 9" id="9"/>
          <p:cNvSpPr txBox="true"/>
          <p:nvPr/>
        </p:nvSpPr>
        <p:spPr>
          <a:xfrm rot="0">
            <a:off x="1631026" y="2743517"/>
            <a:ext cx="3287400" cy="447675"/>
          </a:xfrm>
          <a:prstGeom prst="rect">
            <a:avLst/>
          </a:prstGeom>
        </p:spPr>
        <p:txBody>
          <a:bodyPr anchor="t" rtlCol="false" tIns="0" lIns="0" bIns="0" rIns="0">
            <a:spAutoFit/>
          </a:bodyPr>
          <a:lstStyle/>
          <a:p>
            <a:pPr algn="ctr" marL="0" indent="0" lvl="0">
              <a:lnSpc>
                <a:spcPts val="3599"/>
              </a:lnSpc>
            </a:pPr>
            <a:r>
              <a:rPr lang="en-US" b="true" sz="2999" spc="-29">
                <a:solidFill>
                  <a:srgbClr val="F5334E"/>
                </a:solidFill>
                <a:latin typeface="Be Vietnam Ultra-Bold"/>
                <a:ea typeface="Be Vietnam Ultra-Bold"/>
                <a:cs typeface="Be Vietnam Ultra-Bold"/>
                <a:sym typeface="Be Vietnam Ultra-Bold"/>
              </a:rPr>
              <a:t>Overal</a:t>
            </a:r>
          </a:p>
        </p:txBody>
      </p:sp>
      <p:sp>
        <p:nvSpPr>
          <p:cNvPr name="TextBox 10" id="10"/>
          <p:cNvSpPr txBox="true"/>
          <p:nvPr/>
        </p:nvSpPr>
        <p:spPr>
          <a:xfrm rot="0">
            <a:off x="1028700" y="661988"/>
            <a:ext cx="13438323" cy="1473200"/>
          </a:xfrm>
          <a:prstGeom prst="rect">
            <a:avLst/>
          </a:prstGeom>
        </p:spPr>
        <p:txBody>
          <a:bodyPr anchor="t" rtlCol="false" tIns="0" lIns="0" bIns="0" rIns="0">
            <a:spAutoFit/>
          </a:bodyPr>
          <a:lstStyle/>
          <a:p>
            <a:pPr algn="l" marL="0" indent="0" lvl="0">
              <a:lnSpc>
                <a:spcPts val="5500"/>
              </a:lnSpc>
              <a:spcBef>
                <a:spcPct val="0"/>
              </a:spcBef>
            </a:pPr>
            <a:r>
              <a:rPr lang="en-US" sz="5000" spc="-150">
                <a:solidFill>
                  <a:srgbClr val="FFFFFF"/>
                </a:solidFill>
                <a:latin typeface="Telegraf"/>
                <a:ea typeface="Telegraf"/>
                <a:cs typeface="Telegraf"/>
                <a:sym typeface="Telegraf"/>
              </a:rPr>
              <a:t>APA MUSIM DENGAN TOTAL SALES TERBANYAK?</a:t>
            </a:r>
          </a:p>
        </p:txBody>
      </p:sp>
      <p:sp>
        <p:nvSpPr>
          <p:cNvPr name="TextBox 11" id="11"/>
          <p:cNvSpPr txBox="true"/>
          <p:nvPr/>
        </p:nvSpPr>
        <p:spPr>
          <a:xfrm rot="0">
            <a:off x="1346775" y="7718545"/>
            <a:ext cx="4127575" cy="2111375"/>
          </a:xfrm>
          <a:prstGeom prst="rect">
            <a:avLst/>
          </a:prstGeom>
        </p:spPr>
        <p:txBody>
          <a:bodyPr anchor="t" rtlCol="false" tIns="0" lIns="0" bIns="0" rIns="0">
            <a:spAutoFit/>
          </a:bodyPr>
          <a:lstStyle/>
          <a:p>
            <a:pPr algn="just" marL="0" indent="0" lvl="1">
              <a:lnSpc>
                <a:spcPts val="2800"/>
              </a:lnSpc>
              <a:spcBef>
                <a:spcPct val="0"/>
              </a:spcBef>
            </a:pPr>
            <a:r>
              <a:rPr lang="en-US" sz="2000">
                <a:solidFill>
                  <a:srgbClr val="022658"/>
                </a:solidFill>
                <a:latin typeface="Be Vietnam"/>
                <a:ea typeface="Be Vietnam"/>
                <a:cs typeface="Be Vietnam"/>
                <a:sym typeface="Be Vietnam"/>
              </a:rPr>
              <a:t>Secara keseluruhan total sales relatif stabil di setiap musim, dengan musim Summer (37K) sedikit lebih unggul dibanding Fall, Spring dan Winter (selisih &lt; 2K).</a:t>
            </a:r>
          </a:p>
        </p:txBody>
      </p:sp>
      <p:sp>
        <p:nvSpPr>
          <p:cNvPr name="TextBox 12" id="12"/>
          <p:cNvSpPr txBox="true"/>
          <p:nvPr/>
        </p:nvSpPr>
        <p:spPr>
          <a:xfrm rot="0">
            <a:off x="6996844" y="7718545"/>
            <a:ext cx="4127575" cy="1758950"/>
          </a:xfrm>
          <a:prstGeom prst="rect">
            <a:avLst/>
          </a:prstGeom>
        </p:spPr>
        <p:txBody>
          <a:bodyPr anchor="t" rtlCol="false" tIns="0" lIns="0" bIns="0" rIns="0">
            <a:spAutoFit/>
          </a:bodyPr>
          <a:lstStyle/>
          <a:p>
            <a:pPr algn="just" marL="0" indent="0" lvl="1">
              <a:lnSpc>
                <a:spcPts val="2800"/>
              </a:lnSpc>
              <a:spcBef>
                <a:spcPct val="0"/>
              </a:spcBef>
            </a:pPr>
            <a:r>
              <a:rPr lang="en-US" sz="2000" strike="noStrike" u="none">
                <a:solidFill>
                  <a:srgbClr val="022658"/>
                </a:solidFill>
                <a:latin typeface="Be Vietnam"/>
                <a:ea typeface="Be Vietnam"/>
                <a:cs typeface="Be Vietnam"/>
                <a:sym typeface="Be Vietnam"/>
              </a:rPr>
              <a:t>Musim dengan total penjualan tanpa adanya pengembalian barang dipimpin oleh musim Fall dan Summer (32K), diikuti musim Spring (30K) dan Winter (29K). </a:t>
            </a:r>
          </a:p>
        </p:txBody>
      </p:sp>
      <p:sp>
        <p:nvSpPr>
          <p:cNvPr name="TextBox 13" id="13"/>
          <p:cNvSpPr txBox="true"/>
          <p:nvPr/>
        </p:nvSpPr>
        <p:spPr>
          <a:xfrm rot="0">
            <a:off x="12861959" y="7718545"/>
            <a:ext cx="4127575" cy="2111375"/>
          </a:xfrm>
          <a:prstGeom prst="rect">
            <a:avLst/>
          </a:prstGeom>
        </p:spPr>
        <p:txBody>
          <a:bodyPr anchor="t" rtlCol="false" tIns="0" lIns="0" bIns="0" rIns="0">
            <a:spAutoFit/>
          </a:bodyPr>
          <a:lstStyle/>
          <a:p>
            <a:pPr algn="just" marL="0" indent="0" lvl="1">
              <a:lnSpc>
                <a:spcPts val="2800"/>
              </a:lnSpc>
              <a:spcBef>
                <a:spcPct val="0"/>
              </a:spcBef>
            </a:pPr>
            <a:r>
              <a:rPr lang="en-US" sz="2000" strike="noStrike" u="none">
                <a:solidFill>
                  <a:srgbClr val="022658"/>
                </a:solidFill>
                <a:latin typeface="Be Vietnam"/>
                <a:ea typeface="Be Vietnam"/>
                <a:cs typeface="Be Vietnam"/>
                <a:sym typeface="Be Vietnam"/>
              </a:rPr>
              <a:t>Musim dengan total penjualan dengan pengembalian barang dipimpin oleh musim Winter (5,6K) diikuti musim Spring (5,1K), Summer (5,1K) dan Fall (3,4K). </a:t>
            </a:r>
          </a:p>
        </p:txBody>
      </p:sp>
      <p:sp>
        <p:nvSpPr>
          <p:cNvPr name="TextBox 14" id="14"/>
          <p:cNvSpPr txBox="true"/>
          <p:nvPr/>
        </p:nvSpPr>
        <p:spPr>
          <a:xfrm rot="0">
            <a:off x="7416931" y="2691675"/>
            <a:ext cx="3287400" cy="895350"/>
          </a:xfrm>
          <a:prstGeom prst="rect">
            <a:avLst/>
          </a:prstGeom>
        </p:spPr>
        <p:txBody>
          <a:bodyPr anchor="t" rtlCol="false" tIns="0" lIns="0" bIns="0" rIns="0">
            <a:spAutoFit/>
          </a:bodyPr>
          <a:lstStyle/>
          <a:p>
            <a:pPr algn="ctr" marL="0" indent="0" lvl="0">
              <a:lnSpc>
                <a:spcPts val="3599"/>
              </a:lnSpc>
              <a:spcBef>
                <a:spcPct val="0"/>
              </a:spcBef>
            </a:pPr>
            <a:r>
              <a:rPr lang="en-US" b="true" sz="2999" spc="-29" strike="noStrike" u="none">
                <a:solidFill>
                  <a:srgbClr val="F5334E"/>
                </a:solidFill>
                <a:latin typeface="Be Vietnam Ultra-Bold"/>
                <a:ea typeface="Be Vietnam Ultra-Bold"/>
                <a:cs typeface="Be Vietnam Ultra-Bold"/>
                <a:sym typeface="Be Vietnam Ultra-Bold"/>
              </a:rPr>
              <a:t>Return status is False</a:t>
            </a:r>
          </a:p>
        </p:txBody>
      </p:sp>
      <p:sp>
        <p:nvSpPr>
          <p:cNvPr name="TextBox 15" id="15"/>
          <p:cNvSpPr txBox="true"/>
          <p:nvPr/>
        </p:nvSpPr>
        <p:spPr>
          <a:xfrm rot="0">
            <a:off x="13282046" y="2691675"/>
            <a:ext cx="3287400" cy="895350"/>
          </a:xfrm>
          <a:prstGeom prst="rect">
            <a:avLst/>
          </a:prstGeom>
        </p:spPr>
        <p:txBody>
          <a:bodyPr anchor="t" rtlCol="false" tIns="0" lIns="0" bIns="0" rIns="0">
            <a:spAutoFit/>
          </a:bodyPr>
          <a:lstStyle/>
          <a:p>
            <a:pPr algn="ctr" marL="0" indent="0" lvl="0">
              <a:lnSpc>
                <a:spcPts val="3599"/>
              </a:lnSpc>
              <a:spcBef>
                <a:spcPct val="0"/>
              </a:spcBef>
            </a:pPr>
            <a:r>
              <a:rPr lang="en-US" b="true" sz="2999" spc="-29" strike="noStrike" u="none">
                <a:solidFill>
                  <a:srgbClr val="F5334E"/>
                </a:solidFill>
                <a:latin typeface="Be Vietnam Ultra-Bold"/>
                <a:ea typeface="Be Vietnam Ultra-Bold"/>
                <a:cs typeface="Be Vietnam Ultra-Bold"/>
                <a:sym typeface="Be Vietnam Ultra-Bold"/>
              </a:rPr>
              <a:t>Return Status is True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383181" y="7251228"/>
            <a:ext cx="7190421" cy="1497521"/>
            <a:chOff x="0" y="0"/>
            <a:chExt cx="1893773" cy="394409"/>
          </a:xfrm>
        </p:grpSpPr>
        <p:sp>
          <p:nvSpPr>
            <p:cNvPr name="Freeform 3" id="3"/>
            <p:cNvSpPr/>
            <p:nvPr/>
          </p:nvSpPr>
          <p:spPr>
            <a:xfrm flipH="false" flipV="false" rot="0">
              <a:off x="0" y="0"/>
              <a:ext cx="1893773" cy="394409"/>
            </a:xfrm>
            <a:custGeom>
              <a:avLst/>
              <a:gdLst/>
              <a:ahLst/>
              <a:cxnLst/>
              <a:rect r="r" b="b" t="t" l="l"/>
              <a:pathLst>
                <a:path h="394409" w="1893773">
                  <a:moveTo>
                    <a:pt x="0" y="0"/>
                  </a:moveTo>
                  <a:lnTo>
                    <a:pt x="1893773" y="0"/>
                  </a:lnTo>
                  <a:lnTo>
                    <a:pt x="1893773" y="394409"/>
                  </a:lnTo>
                  <a:lnTo>
                    <a:pt x="0" y="394409"/>
                  </a:lnTo>
                  <a:close/>
                </a:path>
              </a:pathLst>
            </a:custGeom>
            <a:solidFill>
              <a:srgbClr val="022658"/>
            </a:solidFill>
          </p:spPr>
        </p:sp>
        <p:sp>
          <p:nvSpPr>
            <p:cNvPr name="TextBox 4" id="4"/>
            <p:cNvSpPr txBox="true"/>
            <p:nvPr/>
          </p:nvSpPr>
          <p:spPr>
            <a:xfrm>
              <a:off x="0" y="-38100"/>
              <a:ext cx="1893773" cy="432509"/>
            </a:xfrm>
            <a:prstGeom prst="rect">
              <a:avLst/>
            </a:prstGeom>
          </p:spPr>
          <p:txBody>
            <a:bodyPr anchor="ctr" rtlCol="false" tIns="254000" lIns="254000" bIns="254000" rIns="254000"/>
            <a:lstStyle/>
            <a:p>
              <a:pPr algn="l">
                <a:lnSpc>
                  <a:spcPts val="2100"/>
                </a:lnSpc>
              </a:pPr>
              <a:r>
                <a:rPr lang="en-US" sz="1500">
                  <a:solidFill>
                    <a:srgbClr val="FFFFFF"/>
                  </a:solidFill>
                  <a:latin typeface="Be Vietnam"/>
                  <a:ea typeface="Be Vietnam"/>
                  <a:cs typeface="Be Vietnam"/>
                  <a:sym typeface="Be Vietnam"/>
                </a:rPr>
                <a:t>Insight: Kategori dengan total penjualan tertinggi, diskon tinggi, rating baik dan return rate rendah adalah shoes. Sedangkan, Kategori dengan total penjualantinggi, diskon tinggi, rating baik dan return rate tinggi adalah Bottoms dan Dresses.</a:t>
              </a:r>
            </a:p>
          </p:txBody>
        </p:sp>
      </p:grpSp>
      <p:sp>
        <p:nvSpPr>
          <p:cNvPr name="Freeform 5" id="5"/>
          <p:cNvSpPr/>
          <p:nvPr/>
        </p:nvSpPr>
        <p:spPr>
          <a:xfrm flipH="false" flipV="false" rot="0">
            <a:off x="2689473" y="3035772"/>
            <a:ext cx="11749017" cy="4215455"/>
          </a:xfrm>
          <a:custGeom>
            <a:avLst/>
            <a:gdLst/>
            <a:ahLst/>
            <a:cxnLst/>
            <a:rect r="r" b="b" t="t" l="l"/>
            <a:pathLst>
              <a:path h="4215455" w="11749017">
                <a:moveTo>
                  <a:pt x="0" y="0"/>
                </a:moveTo>
                <a:lnTo>
                  <a:pt x="11749017" y="0"/>
                </a:lnTo>
                <a:lnTo>
                  <a:pt x="11749017" y="4215456"/>
                </a:lnTo>
                <a:lnTo>
                  <a:pt x="0" y="4215456"/>
                </a:lnTo>
                <a:lnTo>
                  <a:pt x="0" y="0"/>
                </a:lnTo>
                <a:close/>
              </a:path>
            </a:pathLst>
          </a:custGeom>
          <a:blipFill>
            <a:blip r:embed="rId2"/>
            <a:stretch>
              <a:fillRect l="0" t="0" r="0" b="0"/>
            </a:stretch>
          </a:blipFill>
        </p:spPr>
      </p:sp>
      <p:sp>
        <p:nvSpPr>
          <p:cNvPr name="TextBox 6" id="6"/>
          <p:cNvSpPr txBox="true"/>
          <p:nvPr/>
        </p:nvSpPr>
        <p:spPr>
          <a:xfrm rot="0">
            <a:off x="14438490" y="8951595"/>
            <a:ext cx="2820810" cy="306705"/>
          </a:xfrm>
          <a:prstGeom prst="rect">
            <a:avLst/>
          </a:prstGeom>
        </p:spPr>
        <p:txBody>
          <a:bodyPr anchor="t" rtlCol="false" tIns="0" lIns="0" bIns="0" rIns="0">
            <a:spAutoFit/>
          </a:bodyPr>
          <a:lstStyle/>
          <a:p>
            <a:pPr algn="r">
              <a:lnSpc>
                <a:spcPts val="2520"/>
              </a:lnSpc>
            </a:pPr>
            <a:r>
              <a:rPr lang="en-US" sz="1800" u="sng">
                <a:solidFill>
                  <a:srgbClr val="022658"/>
                </a:solidFill>
                <a:latin typeface="Be Vietnam"/>
                <a:ea typeface="Be Vietnam"/>
                <a:cs typeface="Be Vietnam"/>
                <a:sym typeface="Be Vietnam"/>
                <a:hlinkClick r:id="rId3" action="ppaction://hlinksldjump"/>
              </a:rPr>
              <a:t>Back to agenda page</a:t>
            </a:r>
          </a:p>
        </p:txBody>
      </p:sp>
      <p:sp>
        <p:nvSpPr>
          <p:cNvPr name="TextBox 7" id="7"/>
          <p:cNvSpPr txBox="true"/>
          <p:nvPr/>
        </p:nvSpPr>
        <p:spPr>
          <a:xfrm rot="0">
            <a:off x="1851943" y="916777"/>
            <a:ext cx="13424077" cy="1642745"/>
          </a:xfrm>
          <a:prstGeom prst="rect">
            <a:avLst/>
          </a:prstGeom>
        </p:spPr>
        <p:txBody>
          <a:bodyPr anchor="t" rtlCol="false" tIns="0" lIns="0" bIns="0" rIns="0">
            <a:spAutoFit/>
          </a:bodyPr>
          <a:lstStyle/>
          <a:p>
            <a:pPr algn="ctr" marL="0" indent="0" lvl="0">
              <a:lnSpc>
                <a:spcPts val="6160"/>
              </a:lnSpc>
              <a:spcBef>
                <a:spcPct val="0"/>
              </a:spcBef>
            </a:pPr>
            <a:r>
              <a:rPr lang="en-US" sz="5600" spc="-168">
                <a:solidFill>
                  <a:srgbClr val="F5334E"/>
                </a:solidFill>
                <a:latin typeface="Telegraf"/>
                <a:ea typeface="Telegraf"/>
                <a:cs typeface="Telegraf"/>
                <a:sym typeface="Telegraf"/>
              </a:rPr>
              <a:t>KATEGORI APA YANG PALING LAKU TETAPI JUGA RAWAN RETUR?</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483503"/>
            <a:ext cx="18288000" cy="3857155"/>
          </a:xfrm>
          <a:custGeom>
            <a:avLst/>
            <a:gdLst/>
            <a:ahLst/>
            <a:cxnLst/>
            <a:rect r="r" b="b" t="t" l="l"/>
            <a:pathLst>
              <a:path h="3857155" w="18288000">
                <a:moveTo>
                  <a:pt x="0" y="0"/>
                </a:moveTo>
                <a:lnTo>
                  <a:pt x="18288000" y="0"/>
                </a:lnTo>
                <a:lnTo>
                  <a:pt x="18288000" y="3857156"/>
                </a:lnTo>
                <a:lnTo>
                  <a:pt x="0" y="3857156"/>
                </a:lnTo>
                <a:lnTo>
                  <a:pt x="0" y="0"/>
                </a:lnTo>
                <a:close/>
              </a:path>
            </a:pathLst>
          </a:custGeom>
          <a:blipFill>
            <a:blip r:embed="rId2"/>
            <a:stretch>
              <a:fillRect l="0" t="-108043" r="0" b="-108043"/>
            </a:stretch>
          </a:blipFill>
        </p:spPr>
      </p:sp>
      <p:grpSp>
        <p:nvGrpSpPr>
          <p:cNvPr name="Group 3" id="3"/>
          <p:cNvGrpSpPr/>
          <p:nvPr/>
        </p:nvGrpSpPr>
        <p:grpSpPr>
          <a:xfrm rot="0">
            <a:off x="1808057" y="3218049"/>
            <a:ext cx="3525379" cy="4737485"/>
            <a:chOff x="0" y="0"/>
            <a:chExt cx="4700505" cy="6316647"/>
          </a:xfrm>
        </p:grpSpPr>
        <p:grpSp>
          <p:nvGrpSpPr>
            <p:cNvPr name="Group 4" id="4"/>
            <p:cNvGrpSpPr/>
            <p:nvPr/>
          </p:nvGrpSpPr>
          <p:grpSpPr>
            <a:xfrm rot="0">
              <a:off x="0" y="0"/>
              <a:ext cx="4700505" cy="6316647"/>
              <a:chOff x="0" y="0"/>
              <a:chExt cx="928495" cy="1247733"/>
            </a:xfrm>
          </p:grpSpPr>
          <p:sp>
            <p:nvSpPr>
              <p:cNvPr name="Freeform 5" id="5"/>
              <p:cNvSpPr/>
              <p:nvPr/>
            </p:nvSpPr>
            <p:spPr>
              <a:xfrm flipH="false" flipV="false" rot="0">
                <a:off x="0" y="0"/>
                <a:ext cx="928495" cy="1247733"/>
              </a:xfrm>
              <a:custGeom>
                <a:avLst/>
                <a:gdLst/>
                <a:ahLst/>
                <a:cxnLst/>
                <a:rect r="r" b="b" t="t" l="l"/>
                <a:pathLst>
                  <a:path h="1247733" w="928495">
                    <a:moveTo>
                      <a:pt x="0" y="0"/>
                    </a:moveTo>
                    <a:lnTo>
                      <a:pt x="928495" y="0"/>
                    </a:lnTo>
                    <a:lnTo>
                      <a:pt x="928495" y="1247733"/>
                    </a:lnTo>
                    <a:lnTo>
                      <a:pt x="0" y="1247733"/>
                    </a:lnTo>
                    <a:close/>
                  </a:path>
                </a:pathLst>
              </a:custGeom>
              <a:solidFill>
                <a:srgbClr val="F5334E"/>
              </a:solidFill>
            </p:spPr>
          </p:sp>
          <p:sp>
            <p:nvSpPr>
              <p:cNvPr name="TextBox 6" id="6"/>
              <p:cNvSpPr txBox="true"/>
              <p:nvPr/>
            </p:nvSpPr>
            <p:spPr>
              <a:xfrm>
                <a:off x="0" y="-57150"/>
                <a:ext cx="928495" cy="1304883"/>
              </a:xfrm>
              <a:prstGeom prst="rect">
                <a:avLst/>
              </a:prstGeom>
            </p:spPr>
            <p:txBody>
              <a:bodyPr anchor="ctr" rtlCol="false" tIns="50800" lIns="50800" bIns="50800" rIns="50800"/>
              <a:lstStyle/>
              <a:p>
                <a:pPr algn="ctr">
                  <a:lnSpc>
                    <a:spcPts val="3500"/>
                  </a:lnSpc>
                </a:pPr>
              </a:p>
            </p:txBody>
          </p:sp>
        </p:grpSp>
        <p:sp>
          <p:nvSpPr>
            <p:cNvPr name="TextBox 7" id="7"/>
            <p:cNvSpPr txBox="true"/>
            <p:nvPr/>
          </p:nvSpPr>
          <p:spPr>
            <a:xfrm rot="0">
              <a:off x="463175" y="564854"/>
              <a:ext cx="3786590" cy="1025525"/>
            </a:xfrm>
            <a:prstGeom prst="rect">
              <a:avLst/>
            </a:prstGeom>
          </p:spPr>
          <p:txBody>
            <a:bodyPr anchor="t" rtlCol="false" tIns="0" lIns="0" bIns="0" rIns="0">
              <a:spAutoFit/>
            </a:bodyPr>
            <a:lstStyle/>
            <a:p>
              <a:pPr algn="ctr" marL="0" indent="0" lvl="0">
                <a:lnSpc>
                  <a:spcPts val="3000"/>
                </a:lnSpc>
                <a:spcBef>
                  <a:spcPct val="0"/>
                </a:spcBef>
              </a:pPr>
              <a:r>
                <a:rPr lang="en-US" b="true" sz="2500">
                  <a:solidFill>
                    <a:srgbClr val="FFFFFF"/>
                  </a:solidFill>
                  <a:latin typeface="Be Vietnam Ultra-Bold"/>
                  <a:ea typeface="Be Vietnam Ultra-Bold"/>
                  <a:cs typeface="Be Vietnam Ultra-Bold"/>
                  <a:sym typeface="Be Vietnam Ultra-Bold"/>
                </a:rPr>
                <a:t>Strategi Produk &amp; Penjualan</a:t>
              </a:r>
            </a:p>
          </p:txBody>
        </p:sp>
        <p:sp>
          <p:nvSpPr>
            <p:cNvPr name="TextBox 8" id="8"/>
            <p:cNvSpPr txBox="true"/>
            <p:nvPr/>
          </p:nvSpPr>
          <p:spPr>
            <a:xfrm rot="0">
              <a:off x="456957" y="1796754"/>
              <a:ext cx="3786590" cy="4208992"/>
            </a:xfrm>
            <a:prstGeom prst="rect">
              <a:avLst/>
            </a:prstGeom>
          </p:spPr>
          <p:txBody>
            <a:bodyPr anchor="t" rtlCol="false" tIns="0" lIns="0" bIns="0" rIns="0">
              <a:spAutoFit/>
            </a:bodyPr>
            <a:lstStyle/>
            <a:p>
              <a:pPr algn="l" marL="431801" indent="-215900" lvl="1">
                <a:lnSpc>
                  <a:spcPts val="2800"/>
                </a:lnSpc>
                <a:spcBef>
                  <a:spcPct val="0"/>
                </a:spcBef>
                <a:buFont typeface="Arial"/>
                <a:buChar char="•"/>
              </a:pPr>
              <a:r>
                <a:rPr lang="en-US" sz="2000">
                  <a:solidFill>
                    <a:srgbClr val="FFFFFF"/>
                  </a:solidFill>
                  <a:latin typeface="Be Vietnam"/>
                  <a:ea typeface="Be Vietnam"/>
                  <a:cs typeface="Be Vietnam"/>
                  <a:sym typeface="Be Vietnam"/>
                </a:rPr>
                <a:t>Bundle selling antara kategori total sales tinggi dengan kategori total sales rendah seperti Shoes x Accessories atau outwear x Accecories.</a:t>
              </a:r>
            </a:p>
          </p:txBody>
        </p:sp>
      </p:grpSp>
      <p:sp>
        <p:nvSpPr>
          <p:cNvPr name="TextBox 9" id="9"/>
          <p:cNvSpPr txBox="true"/>
          <p:nvPr/>
        </p:nvSpPr>
        <p:spPr>
          <a:xfrm rot="0">
            <a:off x="4737567" y="1009650"/>
            <a:ext cx="8812866" cy="933450"/>
          </a:xfrm>
          <a:prstGeom prst="rect">
            <a:avLst/>
          </a:prstGeom>
        </p:spPr>
        <p:txBody>
          <a:bodyPr anchor="t" rtlCol="false" tIns="0" lIns="0" bIns="0" rIns="0">
            <a:spAutoFit/>
          </a:bodyPr>
          <a:lstStyle/>
          <a:p>
            <a:pPr algn="l" marL="0" indent="0" lvl="0">
              <a:lnSpc>
                <a:spcPts val="6600"/>
              </a:lnSpc>
              <a:spcBef>
                <a:spcPct val="0"/>
              </a:spcBef>
            </a:pPr>
            <a:r>
              <a:rPr lang="en-US" sz="6000" spc="-179">
                <a:solidFill>
                  <a:srgbClr val="022658"/>
                </a:solidFill>
                <a:latin typeface="Telegraf"/>
                <a:ea typeface="Telegraf"/>
                <a:cs typeface="Telegraf"/>
                <a:sym typeface="Telegraf"/>
              </a:rPr>
              <a:t> </a:t>
            </a:r>
            <a:r>
              <a:rPr lang="en-US" sz="6000" spc="-179">
                <a:solidFill>
                  <a:srgbClr val="F5334E"/>
                </a:solidFill>
                <a:latin typeface="Telegraf"/>
                <a:ea typeface="Telegraf"/>
                <a:cs typeface="Telegraf"/>
                <a:sym typeface="Telegraf"/>
              </a:rPr>
              <a:t>RECOMMENDATIONS</a:t>
            </a:r>
          </a:p>
        </p:txBody>
      </p:sp>
      <p:sp>
        <p:nvSpPr>
          <p:cNvPr name="TextBox 10" id="10"/>
          <p:cNvSpPr txBox="true"/>
          <p:nvPr/>
        </p:nvSpPr>
        <p:spPr>
          <a:xfrm rot="0">
            <a:off x="15068828" y="9571337"/>
            <a:ext cx="2820810" cy="306705"/>
          </a:xfrm>
          <a:prstGeom prst="rect">
            <a:avLst/>
          </a:prstGeom>
        </p:spPr>
        <p:txBody>
          <a:bodyPr anchor="t" rtlCol="false" tIns="0" lIns="0" bIns="0" rIns="0">
            <a:spAutoFit/>
          </a:bodyPr>
          <a:lstStyle/>
          <a:p>
            <a:pPr algn="r">
              <a:lnSpc>
                <a:spcPts val="2520"/>
              </a:lnSpc>
            </a:pPr>
            <a:r>
              <a:rPr lang="en-US" sz="1800" u="sng">
                <a:solidFill>
                  <a:srgbClr val="022658"/>
                </a:solidFill>
                <a:latin typeface="Be Vietnam"/>
                <a:ea typeface="Be Vietnam"/>
                <a:cs typeface="Be Vietnam"/>
                <a:sym typeface="Be Vietnam"/>
                <a:hlinkClick r:id="rId3" action="ppaction://hlinksldjump"/>
              </a:rPr>
              <a:t>Back to agenda page</a:t>
            </a:r>
          </a:p>
        </p:txBody>
      </p:sp>
      <p:grpSp>
        <p:nvGrpSpPr>
          <p:cNvPr name="Group 11" id="11"/>
          <p:cNvGrpSpPr/>
          <p:nvPr/>
        </p:nvGrpSpPr>
        <p:grpSpPr>
          <a:xfrm rot="0">
            <a:off x="12954564" y="3218049"/>
            <a:ext cx="3525379" cy="4737485"/>
            <a:chOff x="0" y="0"/>
            <a:chExt cx="4700505" cy="6316647"/>
          </a:xfrm>
        </p:grpSpPr>
        <p:grpSp>
          <p:nvGrpSpPr>
            <p:cNvPr name="Group 12" id="12"/>
            <p:cNvGrpSpPr/>
            <p:nvPr/>
          </p:nvGrpSpPr>
          <p:grpSpPr>
            <a:xfrm rot="0">
              <a:off x="0" y="0"/>
              <a:ext cx="4700505" cy="6316647"/>
              <a:chOff x="0" y="0"/>
              <a:chExt cx="928495" cy="1247733"/>
            </a:xfrm>
          </p:grpSpPr>
          <p:sp>
            <p:nvSpPr>
              <p:cNvPr name="Freeform 13" id="13"/>
              <p:cNvSpPr/>
              <p:nvPr/>
            </p:nvSpPr>
            <p:spPr>
              <a:xfrm flipH="false" flipV="false" rot="0">
                <a:off x="0" y="0"/>
                <a:ext cx="928495" cy="1247733"/>
              </a:xfrm>
              <a:custGeom>
                <a:avLst/>
                <a:gdLst/>
                <a:ahLst/>
                <a:cxnLst/>
                <a:rect r="r" b="b" t="t" l="l"/>
                <a:pathLst>
                  <a:path h="1247733" w="928495">
                    <a:moveTo>
                      <a:pt x="0" y="0"/>
                    </a:moveTo>
                    <a:lnTo>
                      <a:pt x="928495" y="0"/>
                    </a:lnTo>
                    <a:lnTo>
                      <a:pt x="928495" y="1247733"/>
                    </a:lnTo>
                    <a:lnTo>
                      <a:pt x="0" y="1247733"/>
                    </a:lnTo>
                    <a:close/>
                  </a:path>
                </a:pathLst>
              </a:custGeom>
              <a:solidFill>
                <a:srgbClr val="F5334E"/>
              </a:solidFill>
            </p:spPr>
          </p:sp>
          <p:sp>
            <p:nvSpPr>
              <p:cNvPr name="TextBox 14" id="14"/>
              <p:cNvSpPr txBox="true"/>
              <p:nvPr/>
            </p:nvSpPr>
            <p:spPr>
              <a:xfrm>
                <a:off x="0" y="-57150"/>
                <a:ext cx="928495" cy="1304883"/>
              </a:xfrm>
              <a:prstGeom prst="rect">
                <a:avLst/>
              </a:prstGeom>
            </p:spPr>
            <p:txBody>
              <a:bodyPr anchor="ctr" rtlCol="false" tIns="50800" lIns="50800" bIns="50800" rIns="50800"/>
              <a:lstStyle/>
              <a:p>
                <a:pPr algn="ctr">
                  <a:lnSpc>
                    <a:spcPts val="3500"/>
                  </a:lnSpc>
                </a:pPr>
              </a:p>
            </p:txBody>
          </p:sp>
        </p:grpSp>
        <p:sp>
          <p:nvSpPr>
            <p:cNvPr name="TextBox 15" id="15"/>
            <p:cNvSpPr txBox="true"/>
            <p:nvPr/>
          </p:nvSpPr>
          <p:spPr>
            <a:xfrm rot="0">
              <a:off x="456957" y="214643"/>
              <a:ext cx="3786590" cy="1025525"/>
            </a:xfrm>
            <a:prstGeom prst="rect">
              <a:avLst/>
            </a:prstGeom>
          </p:spPr>
          <p:txBody>
            <a:bodyPr anchor="t" rtlCol="false" tIns="0" lIns="0" bIns="0" rIns="0">
              <a:spAutoFit/>
            </a:bodyPr>
            <a:lstStyle/>
            <a:p>
              <a:pPr algn="ctr" marL="0" indent="0" lvl="0">
                <a:lnSpc>
                  <a:spcPts val="3000"/>
                </a:lnSpc>
                <a:spcBef>
                  <a:spcPct val="0"/>
                </a:spcBef>
              </a:pPr>
              <a:r>
                <a:rPr lang="en-US" b="true" sz="2500" spc="112">
                  <a:solidFill>
                    <a:srgbClr val="FFFFFF"/>
                  </a:solidFill>
                  <a:latin typeface="Be Vietnam Ultra-Bold"/>
                  <a:ea typeface="Be Vietnam Ultra-Bold"/>
                  <a:cs typeface="Be Vietnam Ultra-Bold"/>
                  <a:sym typeface="Be Vietnam Ultra-Bold"/>
                </a:rPr>
                <a:t>Strateg</a:t>
              </a:r>
              <a:r>
                <a:rPr lang="en-US" b="true" sz="2500" spc="112">
                  <a:solidFill>
                    <a:srgbClr val="FFFFFF"/>
                  </a:solidFill>
                  <a:latin typeface="Be Vietnam Ultra-Bold"/>
                  <a:ea typeface="Be Vietnam Ultra-Bold"/>
                  <a:cs typeface="Be Vietnam Ultra-Bold"/>
                  <a:sym typeface="Be Vietnam Ultra-Bold"/>
                </a:rPr>
                <a:t>i  Seosonal</a:t>
              </a:r>
            </a:p>
          </p:txBody>
        </p:sp>
        <p:sp>
          <p:nvSpPr>
            <p:cNvPr name="TextBox 16" id="16"/>
            <p:cNvSpPr txBox="true"/>
            <p:nvPr/>
          </p:nvSpPr>
          <p:spPr>
            <a:xfrm rot="0">
              <a:off x="456957" y="1761214"/>
              <a:ext cx="3786590" cy="3739092"/>
            </a:xfrm>
            <a:prstGeom prst="rect">
              <a:avLst/>
            </a:prstGeom>
          </p:spPr>
          <p:txBody>
            <a:bodyPr anchor="t" rtlCol="false" tIns="0" lIns="0" bIns="0" rIns="0">
              <a:spAutoFit/>
            </a:bodyPr>
            <a:lstStyle/>
            <a:p>
              <a:pPr algn="just" marL="431801" indent="-215900" lvl="1">
                <a:lnSpc>
                  <a:spcPts val="2800"/>
                </a:lnSpc>
                <a:spcBef>
                  <a:spcPct val="0"/>
                </a:spcBef>
                <a:buFont typeface="Arial"/>
                <a:buChar char="•"/>
              </a:pPr>
              <a:r>
                <a:rPr lang="en-US" sz="2000">
                  <a:solidFill>
                    <a:srgbClr val="FFFFFF"/>
                  </a:solidFill>
                  <a:latin typeface="Be Vietnam"/>
                  <a:ea typeface="Be Vietnam"/>
                  <a:cs typeface="Be Vietnam"/>
                  <a:sym typeface="Be Vietnam"/>
                </a:rPr>
                <a:t>Memanfaatkan momentum peak season seperti Summer campaign, Fall campaign, </a:t>
              </a:r>
              <a:r>
                <a:rPr lang="en-US" sz="2000" strike="noStrike" u="none">
                  <a:solidFill>
                    <a:srgbClr val="FFFFFF"/>
                  </a:solidFill>
                  <a:latin typeface="Be Vietnam"/>
                  <a:ea typeface="Be Vietnam"/>
                  <a:cs typeface="Be Vietnam"/>
                  <a:sym typeface="Be Vietnam"/>
                </a:rPr>
                <a:t>Winter clearance sale atau Spring fashion week.</a:t>
              </a:r>
            </a:p>
          </p:txBody>
        </p:sp>
      </p:grpSp>
      <p:grpSp>
        <p:nvGrpSpPr>
          <p:cNvPr name="Group 17" id="17"/>
          <p:cNvGrpSpPr/>
          <p:nvPr/>
        </p:nvGrpSpPr>
        <p:grpSpPr>
          <a:xfrm rot="0">
            <a:off x="7381311" y="3218049"/>
            <a:ext cx="3525379" cy="4737485"/>
            <a:chOff x="0" y="0"/>
            <a:chExt cx="4700505" cy="6316647"/>
          </a:xfrm>
        </p:grpSpPr>
        <p:grpSp>
          <p:nvGrpSpPr>
            <p:cNvPr name="Group 18" id="18"/>
            <p:cNvGrpSpPr/>
            <p:nvPr/>
          </p:nvGrpSpPr>
          <p:grpSpPr>
            <a:xfrm rot="0">
              <a:off x="0" y="0"/>
              <a:ext cx="4700505" cy="6316647"/>
              <a:chOff x="0" y="0"/>
              <a:chExt cx="928495" cy="1247733"/>
            </a:xfrm>
          </p:grpSpPr>
          <p:sp>
            <p:nvSpPr>
              <p:cNvPr name="Freeform 19" id="19"/>
              <p:cNvSpPr/>
              <p:nvPr/>
            </p:nvSpPr>
            <p:spPr>
              <a:xfrm flipH="false" flipV="false" rot="0">
                <a:off x="0" y="0"/>
                <a:ext cx="928495" cy="1247733"/>
              </a:xfrm>
              <a:custGeom>
                <a:avLst/>
                <a:gdLst/>
                <a:ahLst/>
                <a:cxnLst/>
                <a:rect r="r" b="b" t="t" l="l"/>
                <a:pathLst>
                  <a:path h="1247733" w="928495">
                    <a:moveTo>
                      <a:pt x="0" y="0"/>
                    </a:moveTo>
                    <a:lnTo>
                      <a:pt x="928495" y="0"/>
                    </a:lnTo>
                    <a:lnTo>
                      <a:pt x="928495" y="1247733"/>
                    </a:lnTo>
                    <a:lnTo>
                      <a:pt x="0" y="1247733"/>
                    </a:lnTo>
                    <a:close/>
                  </a:path>
                </a:pathLst>
              </a:custGeom>
              <a:solidFill>
                <a:srgbClr val="F5334E"/>
              </a:solidFill>
            </p:spPr>
          </p:sp>
          <p:sp>
            <p:nvSpPr>
              <p:cNvPr name="TextBox 20" id="20"/>
              <p:cNvSpPr txBox="true"/>
              <p:nvPr/>
            </p:nvSpPr>
            <p:spPr>
              <a:xfrm>
                <a:off x="0" y="-57150"/>
                <a:ext cx="928495" cy="1304883"/>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TextBox 21" id="21"/>
            <p:cNvSpPr txBox="true"/>
            <p:nvPr/>
          </p:nvSpPr>
          <p:spPr>
            <a:xfrm rot="0">
              <a:off x="456957" y="310854"/>
              <a:ext cx="3786590" cy="1533525"/>
            </a:xfrm>
            <a:prstGeom prst="rect">
              <a:avLst/>
            </a:prstGeom>
          </p:spPr>
          <p:txBody>
            <a:bodyPr anchor="t" rtlCol="false" tIns="0" lIns="0" bIns="0" rIns="0">
              <a:spAutoFit/>
            </a:bodyPr>
            <a:lstStyle/>
            <a:p>
              <a:pPr algn="ctr" marL="0" indent="0" lvl="0">
                <a:lnSpc>
                  <a:spcPts val="3000"/>
                </a:lnSpc>
                <a:spcBef>
                  <a:spcPct val="0"/>
                </a:spcBef>
              </a:pPr>
              <a:r>
                <a:rPr lang="en-US" b="true" sz="2500" spc="112">
                  <a:solidFill>
                    <a:srgbClr val="FFFFFF"/>
                  </a:solidFill>
                  <a:latin typeface="Be Vietnam Ultra-Bold"/>
                  <a:ea typeface="Be Vietnam Ultra-Bold"/>
                  <a:cs typeface="Be Vietnam Ultra-Bold"/>
                  <a:sym typeface="Be Vietnam Ultra-Bold"/>
                </a:rPr>
                <a:t>Meningkatkan Customer Experien</a:t>
              </a:r>
              <a:r>
                <a:rPr lang="en-US" b="true" sz="2500" spc="112">
                  <a:solidFill>
                    <a:srgbClr val="FFFFFF"/>
                  </a:solidFill>
                  <a:latin typeface="Be Vietnam Ultra-Bold"/>
                  <a:ea typeface="Be Vietnam Ultra-Bold"/>
                  <a:cs typeface="Be Vietnam Ultra-Bold"/>
                  <a:sym typeface="Be Vietnam Ultra-Bold"/>
                </a:rPr>
                <a:t>ce</a:t>
              </a:r>
            </a:p>
          </p:txBody>
        </p:sp>
        <p:sp>
          <p:nvSpPr>
            <p:cNvPr name="TextBox 22" id="22"/>
            <p:cNvSpPr txBox="true"/>
            <p:nvPr/>
          </p:nvSpPr>
          <p:spPr>
            <a:xfrm rot="0">
              <a:off x="456957" y="2238632"/>
              <a:ext cx="3786590" cy="3269192"/>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FFFFFF"/>
                  </a:solidFill>
                  <a:latin typeface="Be Vietnam"/>
                  <a:ea typeface="Be Vietnam"/>
                  <a:cs typeface="Be Vietnam"/>
                  <a:sym typeface="Be Vietnam"/>
                </a:rPr>
                <a:t>Melakukan analisa lebih lanjut tentang return tren.</a:t>
              </a:r>
            </a:p>
            <a:p>
              <a:pPr algn="l" marL="431801" indent="-215900" lvl="1">
                <a:lnSpc>
                  <a:spcPts val="2800"/>
                </a:lnSpc>
                <a:spcBef>
                  <a:spcPct val="0"/>
                </a:spcBef>
                <a:buFont typeface="Arial"/>
                <a:buChar char="•"/>
              </a:pPr>
              <a:r>
                <a:rPr lang="en-US" sz="2000">
                  <a:solidFill>
                    <a:srgbClr val="FFFFFF"/>
                  </a:solidFill>
                  <a:latin typeface="Be Vietnam"/>
                  <a:ea typeface="Be Vietnam"/>
                  <a:cs typeface="Be Vietnam"/>
                  <a:sym typeface="Be Vietnam"/>
                </a:rPr>
                <a:t>Evaluasi kualitas produk disesuaikan dengan brand masing-masing.</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4034910"/>
          </a:xfrm>
          <a:custGeom>
            <a:avLst/>
            <a:gdLst/>
            <a:ahLst/>
            <a:cxnLst/>
            <a:rect r="r" b="b" t="t" l="l"/>
            <a:pathLst>
              <a:path h="4034910" w="18288000">
                <a:moveTo>
                  <a:pt x="0" y="0"/>
                </a:moveTo>
                <a:lnTo>
                  <a:pt x="18288000" y="0"/>
                </a:lnTo>
                <a:lnTo>
                  <a:pt x="18288000" y="4034910"/>
                </a:lnTo>
                <a:lnTo>
                  <a:pt x="0" y="4034910"/>
                </a:lnTo>
                <a:lnTo>
                  <a:pt x="0" y="0"/>
                </a:lnTo>
                <a:close/>
              </a:path>
            </a:pathLst>
          </a:custGeom>
          <a:blipFill>
            <a:blip r:embed="rId2"/>
            <a:stretch>
              <a:fillRect l="0" t="-100987" r="0" b="-100987"/>
            </a:stretch>
          </a:blipFill>
        </p:spPr>
      </p:sp>
      <p:grpSp>
        <p:nvGrpSpPr>
          <p:cNvPr name="Group 3" id="3"/>
          <p:cNvGrpSpPr/>
          <p:nvPr/>
        </p:nvGrpSpPr>
        <p:grpSpPr>
          <a:xfrm rot="0">
            <a:off x="0" y="4034910"/>
            <a:ext cx="9144000" cy="6252090"/>
            <a:chOff x="0" y="0"/>
            <a:chExt cx="2408296" cy="1646641"/>
          </a:xfrm>
        </p:grpSpPr>
        <p:sp>
          <p:nvSpPr>
            <p:cNvPr name="Freeform 4" id="4"/>
            <p:cNvSpPr/>
            <p:nvPr/>
          </p:nvSpPr>
          <p:spPr>
            <a:xfrm flipH="false" flipV="false" rot="0">
              <a:off x="0" y="0"/>
              <a:ext cx="2408296" cy="1646641"/>
            </a:xfrm>
            <a:custGeom>
              <a:avLst/>
              <a:gdLst/>
              <a:ahLst/>
              <a:cxnLst/>
              <a:rect r="r" b="b" t="t" l="l"/>
              <a:pathLst>
                <a:path h="1646641" w="2408296">
                  <a:moveTo>
                    <a:pt x="0" y="0"/>
                  </a:moveTo>
                  <a:lnTo>
                    <a:pt x="2408296" y="0"/>
                  </a:lnTo>
                  <a:lnTo>
                    <a:pt x="2408296" y="1646641"/>
                  </a:lnTo>
                  <a:lnTo>
                    <a:pt x="0" y="1646641"/>
                  </a:lnTo>
                  <a:close/>
                </a:path>
              </a:pathLst>
            </a:custGeom>
            <a:solidFill>
              <a:srgbClr val="F5334E"/>
            </a:solidFill>
          </p:spPr>
        </p:sp>
        <p:sp>
          <p:nvSpPr>
            <p:cNvPr name="TextBox 5" id="5"/>
            <p:cNvSpPr txBox="true"/>
            <p:nvPr/>
          </p:nvSpPr>
          <p:spPr>
            <a:xfrm>
              <a:off x="0" y="-57150"/>
              <a:ext cx="2408296" cy="1703791"/>
            </a:xfrm>
            <a:prstGeom prst="rect">
              <a:avLst/>
            </a:prstGeom>
          </p:spPr>
          <p:txBody>
            <a:bodyPr anchor="ctr" rtlCol="false" tIns="50800" lIns="50800" bIns="50800" rIns="50800"/>
            <a:lstStyle/>
            <a:p>
              <a:pPr algn="ctr">
                <a:lnSpc>
                  <a:spcPts val="3500"/>
                </a:lnSpc>
              </a:pPr>
            </a:p>
          </p:txBody>
        </p:sp>
      </p:grpSp>
      <p:sp>
        <p:nvSpPr>
          <p:cNvPr name="TextBox 6" id="6"/>
          <p:cNvSpPr txBox="true"/>
          <p:nvPr/>
        </p:nvSpPr>
        <p:spPr>
          <a:xfrm rot="0">
            <a:off x="10030527" y="4475586"/>
            <a:ext cx="5676597" cy="4191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EMAIL</a:t>
            </a:r>
            <a:r>
              <a:rPr lang="en-US" b="true" sz="2800" spc="126">
                <a:solidFill>
                  <a:srgbClr val="F5334E"/>
                </a:solidFill>
                <a:latin typeface="Be Vietnam Ultra-Bold"/>
                <a:ea typeface="Be Vietnam Ultra-Bold"/>
                <a:cs typeface="Be Vietnam Ultra-Bold"/>
                <a:sym typeface="Be Vietnam Ultra-Bold"/>
              </a:rPr>
              <a:t> </a:t>
            </a:r>
          </a:p>
        </p:txBody>
      </p:sp>
      <p:sp>
        <p:nvSpPr>
          <p:cNvPr name="TextBox 7" id="7"/>
          <p:cNvSpPr txBox="true"/>
          <p:nvPr/>
        </p:nvSpPr>
        <p:spPr>
          <a:xfrm rot="0">
            <a:off x="10030527" y="4975981"/>
            <a:ext cx="5676597" cy="431800"/>
          </a:xfrm>
          <a:prstGeom prst="rect">
            <a:avLst/>
          </a:prstGeom>
        </p:spPr>
        <p:txBody>
          <a:bodyPr anchor="t" rtlCol="false" tIns="0" lIns="0" bIns="0" rIns="0">
            <a:spAutoFit/>
          </a:bodyPr>
          <a:lstStyle/>
          <a:p>
            <a:pPr algn="l" marL="0" indent="0" lvl="1">
              <a:lnSpc>
                <a:spcPts val="3500"/>
              </a:lnSpc>
              <a:spcBef>
                <a:spcPct val="0"/>
              </a:spcBef>
            </a:pPr>
            <a:r>
              <a:rPr lang="en-US" sz="2500">
                <a:solidFill>
                  <a:srgbClr val="022658"/>
                </a:solidFill>
                <a:latin typeface="Be Vietnam"/>
                <a:ea typeface="Be Vietnam"/>
                <a:cs typeface="Be Vietnam"/>
                <a:sym typeface="Be Vietnam"/>
              </a:rPr>
              <a:t>mawarniarumsekar99@gmail.com</a:t>
            </a:r>
          </a:p>
        </p:txBody>
      </p:sp>
      <p:sp>
        <p:nvSpPr>
          <p:cNvPr name="TextBox 8" id="8"/>
          <p:cNvSpPr txBox="true"/>
          <p:nvPr/>
        </p:nvSpPr>
        <p:spPr>
          <a:xfrm rot="0">
            <a:off x="10030527" y="5845930"/>
            <a:ext cx="5676597" cy="4191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LINKEDIN</a:t>
            </a:r>
          </a:p>
        </p:txBody>
      </p:sp>
      <p:sp>
        <p:nvSpPr>
          <p:cNvPr name="TextBox 9" id="9"/>
          <p:cNvSpPr txBox="true"/>
          <p:nvPr/>
        </p:nvSpPr>
        <p:spPr>
          <a:xfrm rot="0">
            <a:off x="10030527" y="8792203"/>
            <a:ext cx="5676597" cy="4191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PHONE</a:t>
            </a:r>
          </a:p>
        </p:txBody>
      </p:sp>
      <p:sp>
        <p:nvSpPr>
          <p:cNvPr name="TextBox 10" id="10"/>
          <p:cNvSpPr txBox="true"/>
          <p:nvPr/>
        </p:nvSpPr>
        <p:spPr>
          <a:xfrm rot="0">
            <a:off x="10030527" y="9292598"/>
            <a:ext cx="5676597" cy="431800"/>
          </a:xfrm>
          <a:prstGeom prst="rect">
            <a:avLst/>
          </a:prstGeom>
        </p:spPr>
        <p:txBody>
          <a:bodyPr anchor="t" rtlCol="false" tIns="0" lIns="0" bIns="0" rIns="0">
            <a:spAutoFit/>
          </a:bodyPr>
          <a:lstStyle/>
          <a:p>
            <a:pPr algn="l" marL="0" indent="0" lvl="1">
              <a:lnSpc>
                <a:spcPts val="3500"/>
              </a:lnSpc>
              <a:spcBef>
                <a:spcPct val="0"/>
              </a:spcBef>
            </a:pPr>
            <a:r>
              <a:rPr lang="en-US" sz="2500">
                <a:solidFill>
                  <a:srgbClr val="022658"/>
                </a:solidFill>
                <a:latin typeface="Be Vietnam"/>
                <a:ea typeface="Be Vietnam"/>
                <a:cs typeface="Be Vietnam"/>
                <a:sym typeface="Be Vietnam"/>
              </a:rPr>
              <a:t>085727177335</a:t>
            </a:r>
          </a:p>
        </p:txBody>
      </p:sp>
      <p:sp>
        <p:nvSpPr>
          <p:cNvPr name="TextBox 11" id="11"/>
          <p:cNvSpPr txBox="true"/>
          <p:nvPr/>
        </p:nvSpPr>
        <p:spPr>
          <a:xfrm rot="0">
            <a:off x="1502428" y="6589455"/>
            <a:ext cx="6139144" cy="1143000"/>
          </a:xfrm>
          <a:prstGeom prst="rect">
            <a:avLst/>
          </a:prstGeom>
        </p:spPr>
        <p:txBody>
          <a:bodyPr anchor="t" rtlCol="false" tIns="0" lIns="0" bIns="0" rIns="0">
            <a:spAutoFit/>
          </a:bodyPr>
          <a:lstStyle/>
          <a:p>
            <a:pPr algn="ctr" marL="0" indent="0" lvl="0">
              <a:lnSpc>
                <a:spcPts val="8250"/>
              </a:lnSpc>
              <a:spcBef>
                <a:spcPct val="0"/>
              </a:spcBef>
            </a:pPr>
            <a:r>
              <a:rPr lang="en-US" sz="7500" spc="-225">
                <a:solidFill>
                  <a:srgbClr val="FFFFFF"/>
                </a:solidFill>
                <a:latin typeface="Telegraf"/>
                <a:ea typeface="Telegraf"/>
                <a:cs typeface="Telegraf"/>
                <a:sym typeface="Telegraf"/>
              </a:rPr>
              <a:t>THANK YOU</a:t>
            </a:r>
          </a:p>
        </p:txBody>
      </p:sp>
      <p:sp>
        <p:nvSpPr>
          <p:cNvPr name="TextBox 12" id="12"/>
          <p:cNvSpPr txBox="true"/>
          <p:nvPr/>
        </p:nvSpPr>
        <p:spPr>
          <a:xfrm rot="0">
            <a:off x="10030527" y="6350755"/>
            <a:ext cx="7756565" cy="431800"/>
          </a:xfrm>
          <a:prstGeom prst="rect">
            <a:avLst/>
          </a:prstGeom>
        </p:spPr>
        <p:txBody>
          <a:bodyPr anchor="t" rtlCol="false" tIns="0" lIns="0" bIns="0" rIns="0">
            <a:spAutoFit/>
          </a:bodyPr>
          <a:lstStyle/>
          <a:p>
            <a:pPr algn="l" marL="0" indent="0" lvl="1">
              <a:lnSpc>
                <a:spcPts val="3500"/>
              </a:lnSpc>
              <a:spcBef>
                <a:spcPct val="0"/>
              </a:spcBef>
            </a:pPr>
            <a:r>
              <a:rPr lang="en-US" sz="2500" strike="noStrike" u="none">
                <a:solidFill>
                  <a:srgbClr val="022658"/>
                </a:solidFill>
                <a:latin typeface="Be Vietnam"/>
                <a:ea typeface="Be Vietnam"/>
                <a:cs typeface="Be Vietnam"/>
                <a:sym typeface="Be Vietnam"/>
              </a:rPr>
              <a:t>https://www.linkedin.com/in/arumsekarmawarni/</a:t>
            </a:r>
          </a:p>
        </p:txBody>
      </p:sp>
      <p:sp>
        <p:nvSpPr>
          <p:cNvPr name="TextBox 13" id="13"/>
          <p:cNvSpPr txBox="true"/>
          <p:nvPr/>
        </p:nvSpPr>
        <p:spPr>
          <a:xfrm rot="0">
            <a:off x="10030527" y="7328591"/>
            <a:ext cx="5676597" cy="419100"/>
          </a:xfrm>
          <a:prstGeom prst="rect">
            <a:avLst/>
          </a:prstGeom>
        </p:spPr>
        <p:txBody>
          <a:bodyPr anchor="t" rtlCol="false" tIns="0" lIns="0" bIns="0" rIns="0">
            <a:spAutoFit/>
          </a:bodyPr>
          <a:lstStyle/>
          <a:p>
            <a:pPr algn="l" marL="0" indent="0" lvl="0">
              <a:lnSpc>
                <a:spcPts val="3360"/>
              </a:lnSpc>
              <a:spcBef>
                <a:spcPct val="0"/>
              </a:spcBef>
            </a:pPr>
            <a:r>
              <a:rPr lang="en-US" b="true" sz="2800" spc="126">
                <a:solidFill>
                  <a:srgbClr val="F5334E"/>
                </a:solidFill>
                <a:latin typeface="Be Vietnam Ultra-Bold"/>
                <a:ea typeface="Be Vietnam Ultra-Bold"/>
                <a:cs typeface="Be Vietnam Ultra-Bold"/>
                <a:sym typeface="Be Vietnam Ultra-Bold"/>
              </a:rPr>
              <a:t>GITHUB</a:t>
            </a:r>
          </a:p>
        </p:txBody>
      </p:sp>
      <p:sp>
        <p:nvSpPr>
          <p:cNvPr name="TextBox 14" id="14"/>
          <p:cNvSpPr txBox="true"/>
          <p:nvPr/>
        </p:nvSpPr>
        <p:spPr>
          <a:xfrm rot="0">
            <a:off x="10030527" y="7833416"/>
            <a:ext cx="5117068" cy="431800"/>
          </a:xfrm>
          <a:prstGeom prst="rect">
            <a:avLst/>
          </a:prstGeom>
        </p:spPr>
        <p:txBody>
          <a:bodyPr anchor="t" rtlCol="false" tIns="0" lIns="0" bIns="0" rIns="0">
            <a:spAutoFit/>
          </a:bodyPr>
          <a:lstStyle/>
          <a:p>
            <a:pPr algn="l" marL="0" indent="0" lvl="1">
              <a:lnSpc>
                <a:spcPts val="3500"/>
              </a:lnSpc>
              <a:spcBef>
                <a:spcPct val="0"/>
              </a:spcBef>
            </a:pPr>
            <a:r>
              <a:rPr lang="en-US" sz="2500">
                <a:solidFill>
                  <a:srgbClr val="022658"/>
                </a:solidFill>
                <a:latin typeface="Be Vietnam"/>
                <a:ea typeface="Be Vietnam"/>
                <a:cs typeface="Be Vietnam"/>
                <a:sym typeface="Be Vietnam"/>
              </a:rPr>
              <a:t>https://github.com/arumsekar99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DAGwGk7froQ</dc:identifier>
  <dcterms:modified xsi:type="dcterms:W3CDTF">2011-08-01T06:04:30Z</dcterms:modified>
  <cp:revision>1</cp:revision>
  <dc:title>Marketing channel Analysis</dc:title>
</cp:coreProperties>
</file>